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98480" y="0"/>
            <a:ext cx="1490472" cy="685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103120"/>
            <a:ext cx="109728" cy="2103120"/>
          </a:xfrm>
          <a:prstGeom prst="rect">
            <a:avLst/>
          </a:prstGeom>
          <a:solidFill>
            <a:srgbClr val="6E9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F6F9"/>
                </a:solidFill>
                <a:latin typeface="맑은 고딕"/>
              </a:rPr>
              <a:t>MASTER  PREVIEW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미니멀 화이트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3F6F9"/>
                </a:solidFill>
                <a:latin typeface="맑은 고딕"/>
              </a:rPr>
              <a:t>깔끔·기술적 — 웹·모바일·플랫폼·UI/UX 사업에 적합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126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3F6F9"/>
                </a:solidFill>
                <a:latin typeface="맑은 고딕"/>
              </a:rPr>
              <a:t>생성일 2026-04-23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097280" cy="109728"/>
          </a:xfrm>
          <a:prstGeom prst="rect">
            <a:avLst/>
          </a:prstGeom>
          <a:solidFill>
            <a:srgbClr val="6E9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E9FC2"/>
                </a:solidFill>
                <a:latin typeface="맑은 고딕"/>
              </a:rPr>
              <a:t>PART 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0175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사업 이해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389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F6F9"/>
                </a:solidFill>
                <a:latin typeface="맑은 고딕"/>
              </a:rPr>
              <a:t>간지(章) 슬라이드 — 큰 챕터 구분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6CB0"/>
                </a:solidFill>
                <a:latin typeface="맑은 고딕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81818"/>
                </a:solidFill>
                <a:latin typeface="맑은 고딕"/>
              </a:rPr>
              <a:t>본문(불릿) 페이지 — 제목 + 5~7개 불릿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3385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6E9FC2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본문 첫 줄 — 핵심 결론을 두괄식으로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6E9FC2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Why → How → Effect 3박자 서사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6E9FC2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발주처 RFP 단어를 의도적으로 그대로 인용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6E9FC2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정량 수치(예: 90.05%, -45%) 를 굵게 강조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6E9FC2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차별화 포인트 1줄 별도 단락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6E9FC2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다음 슬라이드 예고로 마무리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6CB0"/>
                </a:solidFill>
                <a:latin typeface="맑은 고딕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81818"/>
                </a:solidFill>
                <a:latin typeface="맑은 고딕"/>
              </a:rPr>
              <a:t>2단 비교 — AS-IS vs TO-BE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05840"/>
            <a:ext cx="5486400" cy="512064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5486400" cy="50292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AS-IS  현행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>
                <a:solidFill>
                  <a:srgbClr val="4B5563"/>
                </a:solidFill>
              </a:rPr>
              <a:t>•  </a:t>
            </a:r>
            <a:r>
              <a:rPr sz="1300">
                <a:solidFill>
                  <a:srgbClr val="1F2937"/>
                </a:solidFill>
                <a:latin typeface="맑은 고딕"/>
              </a:rPr>
              <a:t>수기 처리 / 종이 보고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4B5563"/>
                </a:solidFill>
              </a:rPr>
              <a:t>•  </a:t>
            </a:r>
            <a:r>
              <a:rPr sz="1300">
                <a:solidFill>
                  <a:srgbClr val="1F2937"/>
                </a:solidFill>
                <a:latin typeface="맑은 고딕"/>
              </a:rPr>
              <a:t>데이터 단절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4B5563"/>
                </a:solidFill>
              </a:rPr>
              <a:t>•  </a:t>
            </a:r>
            <a:r>
              <a:rPr sz="1300">
                <a:solidFill>
                  <a:srgbClr val="1F2937"/>
                </a:solidFill>
                <a:latin typeface="맑은 고딕"/>
              </a:rPr>
              <a:t>현장 활용 어려움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005840"/>
            <a:ext cx="5486400" cy="5120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005840"/>
            <a:ext cx="5486400" cy="5029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TO-BE  개선 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>
                <a:solidFill>
                  <a:srgbClr val="2B6CB0"/>
                </a:solidFill>
              </a:rPr>
              <a:t>•  </a:t>
            </a:r>
            <a:r>
              <a:rPr sz="1300">
                <a:solidFill>
                  <a:srgbClr val="1F2937"/>
                </a:solidFill>
                <a:latin typeface="맑은 고딕"/>
              </a:rPr>
              <a:t>AI 자동 분류·요약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2B6CB0"/>
                </a:solidFill>
              </a:rPr>
              <a:t>•  </a:t>
            </a:r>
            <a:r>
              <a:rPr sz="1300">
                <a:solidFill>
                  <a:srgbClr val="1F2937"/>
                </a:solidFill>
                <a:latin typeface="맑은 고딕"/>
              </a:rPr>
              <a:t>통합 데이터 허브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2B6CB0"/>
                </a:solidFill>
              </a:rPr>
              <a:t>•  </a:t>
            </a:r>
            <a:r>
              <a:rPr sz="1300">
                <a:solidFill>
                  <a:srgbClr val="1F2937"/>
                </a:solidFill>
                <a:latin typeface="맑은 고딕"/>
              </a:rPr>
              <a:t>현장 모바일 즉시 활용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6CB0"/>
                </a:solidFill>
                <a:latin typeface="맑은 고딕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81818"/>
                </a:solidFill>
                <a:latin typeface="맑은 고딕"/>
              </a:rPr>
              <a:t>정량 카드 — 핵심 수치 강조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3627120" cy="329184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362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181818"/>
                </a:solidFill>
                <a:latin typeface="맑은 고딕"/>
              </a:rPr>
              <a:t>90.05%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49040"/>
            <a:ext cx="362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B5563"/>
                </a:solidFill>
                <a:latin typeface="맑은 고딕"/>
              </a:rPr>
              <a:t>음성인식 정확도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8640" y="1645920"/>
            <a:ext cx="3627120" cy="329184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8640" y="2286000"/>
            <a:ext cx="362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181818"/>
                </a:solidFill>
                <a:latin typeface="맑은 고딕"/>
              </a:rPr>
              <a:t>-45%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8640" y="3749040"/>
            <a:ext cx="362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B5563"/>
                </a:solidFill>
                <a:latin typeface="맑은 고딕"/>
              </a:rPr>
              <a:t>행정 처리시간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4360" y="1645920"/>
            <a:ext cx="3627120" cy="329184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4360" y="2286000"/>
            <a:ext cx="362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181818"/>
                </a:solidFill>
                <a:latin typeface="맑은 고딕"/>
              </a:rPr>
              <a:t>3,200건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4360" y="3749040"/>
            <a:ext cx="362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B5563"/>
                </a:solidFill>
                <a:latin typeface="맑은 고딕"/>
              </a:rPr>
              <a:t>월간 처리량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