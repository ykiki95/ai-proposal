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섹션의 핵심 메시지는 단순 기술 이전이 아니라 보안·품질·확장성 세 축의 구조적 문제를 동시에 해결한다는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발주처 RFP 원문의 '보안', '시급성' 키워드를 직접 인용하여 평가위원 매칭을 유도한다.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페인포인트는 RFP 원문을 직접 인용하였으며 요구사항 고유번호와 매핑된다.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수치 기반 비교로 인프라 증설 규모를 시각적으로 강조한다. WAS 메모리 2배, NAS 5배 확장이 핵심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G-클라우드 내 WEB 4대·WAS 8대·DB HA 구성임을 강조. 성적 PDF 사전 생성 스토리지를 별도 레이어로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bullet의 '현재+차기 가치' 서사가 이 섹션의 최종 메시지. 평가위원에게 투자 정당성을 각인시킨다.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섹션은 RFP의 TER·SER·QUR·PSR 요구사항을 직접 매핑하여 평가위원이 추적하기 쉽도록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성능 테스트 결과서는 RFP PER-001에서 명시적으로 요구하는 산출물입니다. JMeter 시나리오는 접수일·성적발표일 트래픽 패턴을 반영합니다.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SER-001~011 전 항목을 이 표 하나로 커버합니다. 평가위원이 요구사항 번호와 직접 대조할 수 있도록 설명 시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TOPIK 시스템은 5만 명 이상 개인정보 처리 시스템으로 접속기록 2년 보관 의무 적용 대상입니다.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RTO 4시간·RPO 24시간은 국가정보자원관리원 재난복구 정책을 준용한 수치입니다. 시험 시행일·성적 발표일에는 전담 On-Call 인원을 별도 배치합니다.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시험 시행일과 성적 발표일은 On-Call 인원을 사전 배치하여 감지-대응 시간을 최소화합니다. 분기 1회 복구 훈련으로 RTO 달성 여부를 정기 검증합니다.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섹션은 산정 방법 선택 근거부터 계약 조건까지 순서대로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 방식보다 M/M 방식이 본 사업에 적합한 이유를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RFP 추진일정(착수·중간·최종 보고회)과 일치하는 단계별 배분임을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이윤율 10%로 보수적 설정, 예산 집행률 99.2%로 적정성 확보.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예산 대비 99.2%는 초과 제안 리스크 없이 전체 요구사항 이행이 가능한 수준임을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하자담보책임과 지식재산권 조항은 발주처가 민감하게 보는 항목이므로 명확히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F0FB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한국어능력시험(TOPIK) 정보시스템 통합 및 품질 개선 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F0FB"/>
                </a:solidFill>
                <a:latin typeface="맑은 고딕"/>
              </a:rPr>
              <a:t>발주기관  |  조달청 서울지방조달청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제안사  |  크림하우스 주식회사  (대표 최우진)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F0FB"/>
                </a:solidFill>
                <a:latin typeface="맑은 고딕"/>
              </a:rPr>
              <a:t>제출일자  |  2026년 04월 24일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사업 배경/목적/As-Is·To-Be 분석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시스템 구성도 / 기술 스택 / To-Be 화면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단계별 구축 방법론 / 프로세스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34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WBS / 일정 / 리스크 관리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18872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19456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311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QA / 보안 / 유지보수 방안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69748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34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가격 산정 / 계약 조건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사업 배경·목적·As-Is / To-Be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왜 지금, 왜 크림하우스인가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정책·법적 배경 — 이 사업은 선택이 아닌 의무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「전자정부법」 제56조·시행령 제69조: 민감정보(S) 등급 시스템 G-클라우드 이전 의무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행정안전부 고시 제2025-79호: 공공기관 G-클라우드 우선 이용 원칙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「개인정보 보호법」 제21·30·32조: 대규모 개인정보 처리 시스템 엄격 의무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접수·시행시스템: 국정원 보안등급 민감정보(S) 해당 → 현행 민간클라우드 운영은 정책 위반 상태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향후 통합 디지털 평가플랫폼 구축 전 선행 기반 공사로서 시급성 명확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As-Is 현장 페인포인트 5가지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83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페인포인트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RFP 근거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정량 기준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접수일 트래픽 폭주·서버 부하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단시간 대규모 접속 집중, 대기열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SFR-005: 분당 1,000명 처리 목표 미달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매크로 부정 접수·계정 판매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매크로 이용 대량 접수 후 계정 판매 이슈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접수 공정성 훼손, 민원 지속 증가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성적 발표일 출력 병목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실시간 성적표 생성 구조, 서버 부하 집중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SFR-015: 분당 1,000건 출력 기준 미달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시험장 네트워크 의존 위험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시험 문항 실시간 다운로드, 네트워크 불안정 시 시행 불가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수천 명 응시 불가 리스크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민간클라우드 보안 부적합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민감정보(S) 등급 데이터 민간 클라우드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보안 정책 위반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AS-IS / TO-BE 핵심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86400" cy="51206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48640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AS-IS (현행 민간클라우드)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인프라: 민간클라우드 — 보안 정책 부적합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접수 WAS: 32GB × 2대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시행 WAS: 32GB × 2대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NAS: 2,000GB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성적 출력: 실시간 PDF 생성(병목)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시험지: 당일 실시간 다운로드(네트워크 의존)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부정 접수 방지: 없음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SW: Ubuntu / Apache Tomcat / OpenJDK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TO-BE (G-클라우드 대전센터)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인프라: G-클라우드 — 보안 정책 완전 준수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접수 WAS: 64GB × 4대 (2배 증설)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시행 WAS: 64GB × 4대 (2배 증설)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NAS: 10,000GB (5배 확장)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성적 출력: 사전 생성 PDF 제공(분당 1,000건)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시험지: 사전 다운로드 + 오프라인 시행 가능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부정 접수 방지: 이메일 인증·OTP·도메인 차단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SW: Oracle Linux / HF Apache / HF Wildfly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TO-BE 시스템 구성도 (G-클라우드)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0" cy="98755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수험생·관리자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097280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234440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접수 사용자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7458" y="1097280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7458" y="1234440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시험 감독관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6036" y="1097280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6036" y="1234440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응시자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4614" y="1097280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4614" y="1234440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관리자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76272"/>
            <a:ext cx="1828800" cy="98755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1343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유량제어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176272"/>
            <a:ext cx="9262872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313432"/>
            <a:ext cx="9262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NetFUNNEL (트래픽 제어·관리자 On/Off)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55264"/>
            <a:ext cx="1828800" cy="98755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392424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WEB (×4)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255264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392424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HF Apache #1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7458" y="3255264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7458" y="3392424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HF Apache #2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6036" y="3255264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6036" y="3392424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HF Apache #3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84614" y="3255264"/>
            <a:ext cx="2247138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4614" y="3392424"/>
            <a:ext cx="22471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HF Apache #4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34256"/>
            <a:ext cx="1828800" cy="98755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471416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WAS (×8)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4334256"/>
            <a:ext cx="4585716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4471416"/>
            <a:ext cx="45857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접수 WAS×4 (분당 1,000명)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46036" y="4334256"/>
            <a:ext cx="4585716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6036" y="4471416"/>
            <a:ext cx="45857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시행 WAS×4 (동시 5,000명)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413248"/>
            <a:ext cx="1828800" cy="98755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550408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캐시·인증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68880" y="5413248"/>
            <a:ext cx="3026664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5550408"/>
            <a:ext cx="302666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Redis (세션 캐시)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86984" y="5413248"/>
            <a:ext cx="3026664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86984" y="5550408"/>
            <a:ext cx="302666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JWT 인증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088" y="5413248"/>
            <a:ext cx="3026664" cy="987552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5088" y="5550408"/>
            <a:ext cx="302666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OTP 인증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크림하우스가 적임자인 3가지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① PostgreSQL 실전 역량 — AS-IS·TO-BE 동일 엔진, 데이터 정합성·무결성 검증(DAR-005·008) 자체 수행 가능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② React·Next.js 반응형 웹 — SFR-020·SIR-001·002 필수 요건, 단일 소스 OSMU 구현, 중복 개발 없음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③ Redis·JWT·AWS 아키텍처 경험 — RFP 명시 기술 스택 그대로 적용, WAS·DBMS 부하 감소 실증 가능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결정적 차별화: 16명 팀이 데이터 이관·API·프론트·성능테스트 수직 통합 수행 → 180일 기간 리스크 최소화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현재 가치(보안·품질 즉시 해소) + 차기 가치(통합 디지털 평가플랫폼 연계 기반) 동시 실현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시스템 구성도 / 기술 스택 / To-Be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시스템 구성도 / 기술 스택 / To-Be 화면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단계별 구축 방법론 /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단계별 구축 방법론 / 프로세스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WBS / 일정 / 리스크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WBS / 일정 / 리스크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사장님 직접 작성 영역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회사 소개·실적·인력 정보는 영업/HR 담당이 직접 채웁니다.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투입 조직 / 핵심 인력 이력 (보충 페이지)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투입 조직 / 핵심 인력 이력 (보충 페이지)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필요 시 1장 더 사용하세요.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사장님 직접 작성 영역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회사 소개·실적·인력 정보는 영업/HR 담당이 직접 채웁니다.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회사 소개 / 유사 실적 (보충 페이지)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회사 소개 / 유사 실적 (보충 페이지)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필요 시 1장 더 사용하세요.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QA / 보안 / 유지보수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품질보증 · 3계층 보안통제 · SLA 기반 운영 안정성 확보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단계별 QA 테스트 목표 · 도구 · 통과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83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도구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통과 기준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단위 테스트 (TER-003)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모듈 수준 결함 조기 발견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JUnit 5, 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커버리지 80% 이상, 결함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통합 테스트 (TER-002)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간 연계 정합성 확인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Postman, RestAssured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인터페이스 오류율 0%, 응답 3초 미만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성능·부하 테스트 (TER-005)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접수 1,000명/분, 시행 5,000명 동시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JMeter, Gatling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PER-003 기준 100% 충족, 오류율 0.1%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기능 테스트 (TER-004)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전체 SFR 요구사항 커버리지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Selenium, Playwright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RTM 100% 통과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인수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발주기관 검수 기준 충족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발주기관 체크리스트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Critical·Major 결함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보안 통제 3계층 — 행정·물리·기술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통제 항목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세부 내용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행정적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보안서약서·교육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투입 전 전 인력 징구, 사업 기간 10% 이내 보안 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행정적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직무분리·최소권한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DB 접근 시 DB관리자 사전 승인, 최소 권한 원칙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물리적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작업장·개발망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CCTV·잠금장치, 개발·운영 서버 네트워크 완전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물리적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저장매체 통제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USB 반출입 시 악성코드 점검 의무, 분류 보관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기술적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암호화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AES-256(시행정보), SHA-256(감독관 계정), TLS 1.2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기술적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접근통제·HTTPS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관리자 IP 화이트리스트, OTP 2차 인증, HTTPS 전면 적용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기술적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로그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접속·사용 로그 1년, 권한 내역 3년, 개인정보 접속기록 2년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개인정보·민감정보 보호 이행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가명처리: 개발·테스트 시 Garbage 데이터 사용 원칙, 운영 데이터 사용 시 책임자 승인 필수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암호화: 비밀번호 bcrypt 단방향, 고유식별정보 양방향(국정원 검증 알고리즘), 전송 TLS 1.2 이상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접근통제: 권한 부여·변경·말소 내역 3년 보관, 주기적 접근권한 점검 수행 (안전성확보조치 기준 제5조)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감사로그: 개인정보 조회·다운로드 사유 기록, 매월 비정상 행위 점검 및 후속 조치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파기: 보유기간 경과 후 5일 이내 복구 불가 수준 완전 삭제 (개인정보 보호법 제21조)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개인정보파일 등록: 개인정보보호위원회 60일 이내 등록·공개 (제32조 준수)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운영·유지보수 SLA 핵심 수치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시스템 가용성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계획된 유지보수 제외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3초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페이지 응답시간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동시 200명 기준 (PER-002)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24시간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Critical 결함 조치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QUR-005 기준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829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829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4시간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서비스 복구 목표(RTO)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29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국가정보자원관리원 재난복구 정책 준용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장애 대응 프로세스 및 비상연락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0" cy="170688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828800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감지·통보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09728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23444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모니터링 자동 알림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6984" y="109728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6984" y="123444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30분 이내 비상연락망 가동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5088" y="109728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23444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디지털토픽팀·NIRS·크림하우스 PM 동시 통보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95600"/>
            <a:ext cx="1828800" cy="170688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32760"/>
            <a:ext cx="1828800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분류·대응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289560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303276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등급 분류(Critical/Major/Minor)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6984" y="289560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6984" y="303276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전담 대응팀 즉시 투입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89560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303276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임시 조치(Workaround)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93920"/>
            <a:ext cx="1828800" cy="170688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31080"/>
            <a:ext cx="1828800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복구·보고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469392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483108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근본 원인 제거 및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86984" y="469392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6984" y="483108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서비스 복구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05088" y="4693920"/>
            <a:ext cx="3026664" cy="17068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4831080"/>
            <a:ext cx="3026664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장애 보고서 작성·재발 방지 대책 수립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가격 산정 / 계약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투입공수 방식 · SW사업 대가산정 가이드 기반 · 예산 대비 99.2% 이내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산정 방법 선택 및 인력 등급별 단가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이전·재구축 중심 사업 특성 → 투입공수(M/M) 방식 적용 (FP 방식 배제 근거: 기존 시스템 이전 공수가 전체의 70% 이상)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과기정통부 「SW사업 대가산정 가이드」 2024년 기준 노임단가 적용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PM 고급: 6,340,000원/M/M / 응용SW개발 중급: 4,470,000원/M/M / 보안 고급: 5,430,000원/M/M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사업기간 180일(6개월), 총 투입공수 31.0 M/M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단계별·직무별 투입 M/M 산정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883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분석·설계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개발(중급×3)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보안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소계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분석·설계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M+0~M+1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구현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M+1~M+3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9.0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15.5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품질·테스트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M+3~M+4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안정화·완료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M+4~M+5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직접비·간접비·이윤 원가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금액(원)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산출 근거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직접인건비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31.0 M/M 합산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154,205,000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등급별 단가 × M/M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직접경비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출장·회의·인쇄 등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4,626,150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직접인건비의 3%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간접비(제경비)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간접운영비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16,920,550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직접인건비의 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이윤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17,575,170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원가 합계의 10% (가이드 상한 25% 내)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공급가액(VAT제외)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179,545,454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부가가치세(10%)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17,954,545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6F0F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제안 총액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≤ 197,500,000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발주처 예산의 99.2% 이내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총사업비 적정성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99.2%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발주처 예산 대비 제안 금액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VAT 포함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31.0 M/M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총 투입공수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6개월, 6개 직무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이윤율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가이드 상한 25% 대비 보수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8290" y="1463040"/>
            <a:ext cx="266319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829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1년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하자담보책임 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29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소프트웨어진흥법 제62조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계약 조건 합리성 — 변경관리·정산·하자보수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변경관리: 과업내용 변경 시 협의 → 과업심의위원회 → 변경계약 3단계 준수 (PMR-006)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정산: 단계별 산출물 검수 후 분할 청구 — 선금 30% / 중도금 40% / 잔금 30%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하자보수: 최종 검수일로부터 1년, 긴급 장애 30분 내 초기 대응·4시간 내 복구 (PSR-003~005)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지식재산권: 결과물 전체 발주처 귀속, 기 보유 공통 컴포넌트는 영구 무상 라이선스 제공 (PMR-004)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G-클라우드 서버 사양 변경(대전센터 협의 결과) 발생 시 즉시 서면 협의 후 변경계약 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한국어능력시험(TOPIK) 정보시스템 통합 및 품질 개선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6F0FB"/>
                </a:solidFill>
                <a:latin typeface="맑은 고딕"/>
              </a:rPr>
              <a:t>함께 만들어 가겠습니다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F0FB"/>
                </a:solidFill>
                <a:latin typeface="맑은 고딕"/>
              </a:rPr>
              <a:t>크림하우스 주식회사  |  대표 최우진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