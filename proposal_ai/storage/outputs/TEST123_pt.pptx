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개선 전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업무 처리시간</c:v>
                </c:pt>
                <c:pt idx="1">
                  <c:v>민원 만족도</c:v>
                </c:pt>
                <c:pt idx="2">
                  <c:v>운영비용</c:v>
                </c:pt>
                <c:pt idx="3">
                  <c:v>시스템 장애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개선 후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업무 처리시간</c:v>
                </c:pt>
                <c:pt idx="1">
                  <c:v>민원 만족도</c:v>
                </c:pt>
                <c:pt idx="2">
                  <c:v>운영비용</c:v>
                </c:pt>
                <c:pt idx="3">
                  <c:v>시스템 장애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138</c:v>
                </c:pt>
                <c:pt idx="2">
                  <c:v>70</c:v>
                </c:pt>
                <c:pt idx="3">
                  <c:v>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3352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103120"/>
            <a:ext cx="137160" cy="2286000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6F0FB"/>
                </a:solidFill>
                <a:latin typeface="맑은 고딕"/>
              </a:rPr>
              <a:t>제 안 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서울시 디지털플랫폼 구축 사업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맑은 고딕"/>
              </a:rPr>
              <a:t>제안사  |  크림하우스 주식회사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94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F0FB"/>
                </a:solidFill>
                <a:latin typeface="맑은 고딕"/>
              </a:rPr>
              <a:t>대표이사  |  최우진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35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6F0FB"/>
                </a:solidFill>
                <a:latin typeface="맑은 고딕"/>
              </a:rPr>
              <a:t>제출일자  |  2026년 04월 22일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C O N T E N T S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맑은 고딕"/>
              </a:rPr>
              <a:t>1. 사업 이해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194560"/>
            <a:ext cx="457200" cy="457200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40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맑은 고딕"/>
              </a:rPr>
              <a:t>2. 추진 일정</a:t>
            </a:r>
          </a:p>
        </p:txBody>
      </p:sp>
      <p:sp>
        <p:nvSpPr>
          <p:cNvPr id="9" name="Oval 8"/>
          <p:cNvSpPr/>
          <p:nvPr/>
        </p:nvSpPr>
        <p:spPr>
          <a:xfrm>
            <a:off x="6400800" y="1554480"/>
            <a:ext cx="457200" cy="457200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맑은 고딕"/>
              </a:rPr>
              <a:t>3. 회사 소개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6FE6"/>
                </a:solidFill>
                <a:latin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5A"/>
                </a:solidFill>
                <a:latin typeface="맑은 고딕"/>
              </a:rPr>
              <a:t>1. 사업 이해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제안 배경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핵심 과업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기대 효과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크림하우스 주식회사  |  서울시 디지털플랫폼 구축 사업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7352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1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6FE6"/>
                </a:solidFill>
                <a:latin typeface="맑은 고딕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5A"/>
                </a:solidFill>
                <a:latin typeface="맑은 고딕"/>
              </a:rPr>
              <a:t>2. 추진 일정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4단계 로드맵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분석/설계 1개월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개발 2개월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오픈 1개월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120640"/>
            <a:ext cx="10698480" cy="41148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166360"/>
            <a:ext cx="2583180" cy="32004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623560"/>
            <a:ext cx="26746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</a:rPr>
              <a:t>분석/설계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1860" y="5166360"/>
            <a:ext cx="2583180" cy="3200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6140" y="5623560"/>
            <a:ext cx="26746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</a:rPr>
              <a:t>개발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5166360"/>
            <a:ext cx="2583180" cy="32004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5623560"/>
            <a:ext cx="26746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</a:rPr>
              <a:t>통합/테스트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01100" y="5166360"/>
            <a:ext cx="2583180" cy="3200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55380" y="5623560"/>
            <a:ext cx="26746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</a:rPr>
              <a:t>오픈/안정화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크림하우스 주식회사  |  서울시 디지털플랫폼 구축 사업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17352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2 /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6FE6"/>
                </a:solidFill>
                <a:latin typeface="맑은 고딕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5A"/>
                </a:solidFill>
                <a:latin typeface="맑은 고딕"/>
              </a:rPr>
              <a:t>3. 회사 소개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실적 100건+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팀 15명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58B00"/>
                </a:solidFill>
              </a:rPr>
              <a:t>▪  </a:t>
            </a:r>
            <a:r>
              <a:rPr sz="2000">
                <a:solidFill>
                  <a:srgbClr val="333333"/>
                </a:solidFill>
                <a:latin typeface="맑은 고딕"/>
              </a:rPr>
              <a:t>클라우드 인증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크림하우스 주식회사  |  서울시 디지털플랫폼 구축 사업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7352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3 /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5A"/>
                </a:solidFill>
                <a:latin typeface="맑은 고딕"/>
              </a:rPr>
              <a:t>기대 효과 (정량 지표)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914400" y="1371600"/>
          <a:ext cx="103327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크림하우스 주식회사  |  서울시 디지털플랫폼 구축 사업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