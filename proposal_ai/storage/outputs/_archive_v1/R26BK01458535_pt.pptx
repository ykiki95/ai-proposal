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E6F0FB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960120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충청북도교육청 교육행정기관 누리집 기능고도화 사업 용역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029200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맑은 고딕"/>
              </a:rPr>
              <a:t>제안사  |  크림하우스 주식회사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440680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0">
                <a:solidFill>
                  <a:srgbClr val="E6F0FB"/>
                </a:solidFill>
                <a:latin typeface="맑은 고딕"/>
              </a:rPr>
              <a:t>대표이사  |  최우진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0">
                <a:solidFill>
                  <a:srgbClr val="E6F0FB"/>
                </a:solidFill>
                <a:latin typeface="맑은 고딕"/>
              </a:rPr>
              <a:t>제출일자  |  2026년 04월 22일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207008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추진 배경 및 정책 근거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572768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91056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As-Is 현장 페인포인트 진단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1956816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975104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고도화가 만드는 핵심 정량 효과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340864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359152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As-Is → To-Be 전환 비교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724912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743200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시스템 서비스 아키텍처 구성도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" y="3108960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3127248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핵심 솔루션 ① — 멀티사이트 통합 CMS 플랫폼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3493008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511296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핵심 솔루션 ② — Hybrid 방법론 기반 품질보증 체계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3877056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95344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마스터 스케줄 — 마일스톤 정의 (총 6개월)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0" y="1188720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1207008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단계별 핵심 활동 — 분석·설계 → 개발</a:t>
            </a:r>
          </a:p>
        </p:txBody>
      </p:sp>
      <p:sp>
        <p:nvSpPr>
          <p:cNvPr id="23" name="Oval 22"/>
          <p:cNvSpPr/>
          <p:nvPr/>
        </p:nvSpPr>
        <p:spPr>
          <a:xfrm>
            <a:off x="6400800" y="1572768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1591056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단계별 핵심 활동 — 이행·안정화 및 리스크 관리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0" y="1956816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12280" y="1975104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사업 전담 조직 및 투입 인력 구성</a:t>
            </a:r>
          </a:p>
        </p:txBody>
      </p:sp>
      <p:sp>
        <p:nvSpPr>
          <p:cNvPr id="27" name="Oval 26"/>
          <p:cNvSpPr/>
          <p:nvPr/>
        </p:nvSpPr>
        <p:spPr>
          <a:xfrm>
            <a:off x="6400800" y="2340864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12280" y="2359152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유사 수행 실적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2724912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12280" y="2743200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크림하우스 핵심 역량 수치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0" y="3108960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80" y="3127248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크림하우스 차별화 포인트</a:t>
            </a:r>
          </a:p>
        </p:txBody>
      </p:sp>
      <p:sp>
        <p:nvSpPr>
          <p:cNvPr id="33" name="Oval 32"/>
          <p:cNvSpPr/>
          <p:nvPr/>
        </p:nvSpPr>
        <p:spPr>
          <a:xfrm>
            <a:off x="6400800" y="3493008"/>
            <a:ext cx="292608" cy="292608"/>
          </a:xfrm>
          <a:prstGeom prst="ellipse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</a:rPr>
              <a:t>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12280" y="3511296"/>
            <a:ext cx="5212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가격 산정 요약 (SW사업 대가산정 가이드 준거)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사업 이해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충청북도교육청이 진짜 원하는 것 — 분산된 누리집을 하나의 체계로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추진 배경 및 정책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「전자정부법」 제22조 · 「장애인차별금지법」 제21조 · KWCAG 2.2 — 웹 접근성 법적 준수 의무화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행정안전부 「누리집 통합관리 지침」 — 유사 기능 분산 운영 지양, 통합·고도화 명령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충청북도 미래교육 중장기 발전계획 — '디지털 전환 기반 교육행정 혁신'을 핵심 추진과제로 설정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기관별 독립 운영으로 기술 스택·보안 패치·UI 구조가 제각각 → 법령 반영 속도 저하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모바일 트래픽 60% 이상임에도 모바일 최적화 미비 → 대민 서비스 신뢰도 하락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As-Is 현장 페인포인트 진단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99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RFP 명시 필요(Stated Need)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현장 실질 고통(Real Need)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영향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누리집 기능 노후화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기관별 개별 구축으로 유지보수 비용 중복 발생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연간 관리비용 20~30% 이상 중복 추정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②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통합 관리 체계 부재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다수 산하기관 디자인·메뉴 구조 상이 → 이용자 혼란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사용자 이탈률 상승, 민원 전화 유입 증가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웹 접근성 미준수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장애인·고령자 등 정보취약계층의 교육정보 접근 차단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KWCAG 2.2 미준수 시 법적 시정명령 위험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④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모바일 환경 대응 미흡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전체 트래픽 60% 이상이 모바일임에도 최적화 미비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모바일 이용자 정보 접근성 저하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데이터 연계·통합 부재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 간 공지 중복 게시, 담당자 수작업 부담 증가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정보 불일치 리스크 및 행정 비효율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58B00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고도화가 만드는 핵심 정량 효과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55498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55498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30%↓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55549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기관별 중복 운영비용 절감 (통합 플랫폼 전환 시)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1645920"/>
            <a:ext cx="555498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0" y="2194560"/>
            <a:ext cx="555498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66160"/>
            <a:ext cx="55549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목표 서비스 가용성 (이중화 아키텍처 기반)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113385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※ 위 수치는 자사 보유 자산 또는 RFP 분석 기반 추정치이며, 본문에 근거 출처를 함께 기재합니다.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추진 전략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단일 멀티사이트 플랫폼 + Hybrid 방법론으로 분산을 통합으로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As-Is → To-Be 전환 비교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67437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As-Is (현행)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To-Be (개선 후)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운영 구조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기관별 개별 누리집, 독립 서버 분산 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멀티사이트 통합 플랫폼, 단일 클라우드 운영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콘텐츠 관리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기관별 담당자 각 시스템 개별 입력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통합 CMS 1회 입력 → 연계 채널 자동 배포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디자인 일관성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기관마다 상이한 UI, 접근성 미준수 다수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통합 디자인 시스템(Design Token), WCAG 2.1 AA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데이터 연계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나이스·에듀파인 등 외부 시스템 수동 연계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API Gateway 기반 표준 연계, 자동 갱신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모바일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별도 모바일 사이트 또는 미대응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반응형(Responsive) 단일 코드베이스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보안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기관별 보안 설정 상이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통합 WAF, TLS 1.3, 취약점 자동 스캔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67437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배포 방식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FTP 수동 업로드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CI/CD 파이프라인, Blue-Green 무중단 배포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시스템 서비스 아키텍처 구성도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097280"/>
            <a:ext cx="110642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1F2937"/>
                </a:solidFill>
                <a:latin typeface="Consolas"/>
              </a:rPr>
              <a:t>┌──────────────────────────────────────────────────────┐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                  [ 사용자 계층 ]          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 PC 브라우저 · 모바일 브라우저 · 스크린리더 · 검색엔진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└──────────────────────┬───────────────────────────────┘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   │ HTTPS / TLS 1.3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┌──────────────────────▼───────────────────────────────┐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             [ CDN / WAF / Load Balancer ] 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        CloudFront + WAF (OWASP Top10 차단)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└──────────────────────┬───────────────────────────────┘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┌───────────────┴───────────────┐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▼                               ▼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┌─────────────┐                 ┌─────────────┐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프론트엔드   │                 │   백엔드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Next.js     │◄───REST/GQL────►│  Node.js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│ (React SSR) │                 │  Python API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└─────────────┘                 └──────┬──────┘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        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┌────────────────────────┼────────────────────┐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▼                        ▼                    ▼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┌─────────────┐        ┌──────────────┐    ┌───────────────┐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│ PostgreSQL  │        │ API Gateway  │    │  통합 CMS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│ (통합 DB)   │        │ (외부 연계)  │    │ (멀티사이트)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└─────────────┘        └──────┬───────┘    └───────────────┘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                 │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┌────────────────┼────────────────┐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       ▼                ▼                ▼</a:t>
            </a:r>
          </a:p>
          <a:p>
            <a:r>
              <a:rPr sz="1100">
                <a:solidFill>
                  <a:srgbClr val="1F2937"/>
                </a:solidFill>
                <a:latin typeface="Consolas"/>
              </a:rPr>
              <a:t>             [ 나이스(NEIS) ]  [ 에듀파인 ]   [ 행정정보시스템 ]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핵심 솔루션 ① — 멀티사이트 통합 CMS 플랫폼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120640" cy="5212080"/>
          </a:xfrm>
          <a:prstGeom prst="round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58B00"/>
                </a:solidFill>
                <a:latin typeface="맑은 고딕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7200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단일 플랫폼 멀티사이트 CMS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57200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E6F0FB"/>
                </a:solidFill>
                <a:latin typeface="맑은 고딕"/>
              </a:rPr>
              <a:t>하나의 플랫폼으로 본청·직속기관·교육지원청 전체 누리집 동시 서비스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B2C5A"/>
                </a:solidFill>
                <a:latin typeface="맑은 고딕"/>
              </a:rPr>
              <a:t>핵심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087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기관별 자율 편집권 유지 + 통합 디자인 시스템(Design Token) 일괄 적용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통합 CMS 1회 입력 → 복수 채널 자동 배포 (콘텐츠 이중 등록 제로화)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전체 기관 통합 풀텍스트 검색 지원 — 기관 경계 없는 정보 탐색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WCAG 2.1 AA 기반 웹 접근성 완전 준수 — 법적 리스크 해소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React/Next.js 기반 반응형 단일 코드베이스 — 모바일 트래픽 60% 완전 대응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핵심 솔루션 ② — Hybrid 방법론 기반 품질보증 체계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120640" cy="5212080"/>
          </a:xfrm>
          <a:prstGeom prst="round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280160"/>
            <a:ext cx="4572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100" b="1">
                <a:solidFill>
                  <a:srgbClr val="F58B00"/>
                </a:solidFill>
                <a:latin typeface="맑은 고딕"/>
              </a:rPr>
              <a:t>OUR SOLUTION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691640"/>
            <a:ext cx="457200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맑은 고딕"/>
              </a:rPr>
              <a:t>V&amp;V 4단계 품질보증 + CI/CD 자동화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743200"/>
            <a:ext cx="4572000" cy="2743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300" b="0">
                <a:solidFill>
                  <a:srgbClr val="E6F0FB"/>
                </a:solidFill>
                <a:latin typeface="맑은 고딕"/>
              </a:rPr>
              <a:t>공공 계약 적합성과 변경 유연성을 동시에 달성하는 Hybrid 개발 방법론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105156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0B2C5A"/>
                </a:solidFill>
                <a:latin typeface="맑은 고딕"/>
              </a:rPr>
              <a:t>핵심 포인트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0" y="1508760"/>
            <a:ext cx="5943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분석·설계: Waterfall 게이트로 요건 확정 → 개발: 2주 Sprint 반복 점진 구현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단위(Jest) → 통합(Postman Newman) → 시스템(k6·OWASP ZAP) → 인수 테스트 4단계 V&amp;V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코드 커버리지 80% 이상 미달 시 CI 파이프라인 자동 배포 차단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요구사항 추적표(RTM)로 요구사항 ID↔테스트 케이스 1:1 매핑, 검수 반려 리스크 최소화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✔  </a:t>
            </a:r>
            <a:r>
              <a:rPr sz="1300">
                <a:solidFill>
                  <a:srgbClr val="1F2937"/>
                </a:solidFill>
                <a:latin typeface="맑은 고딕"/>
              </a:rPr>
              <a:t>Blue-Green 무중단 배포 — 서비스 단절 없이 기능 릴리즈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세부 수행 계획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6개월 마스터 스케줄 · 3레벨 WBS · 리스크 관리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마스터 스케줄 — 마일스톤 정의 (총 6개월)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7707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시점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산출물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완료 기준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M0 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계약 후 1주 이내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착수계, 과업수행계획서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발주처 착수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M1 요구사항 확정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1개월 말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요구사항 정의서, AS-IS 분석서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발주처 서명 완료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M2 설계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2개월 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UI/UX 설계서, 시스템 아키텍처 설계서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발주처 설계 검토 확인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M3 개발 1차 완료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3.5개월 (M4 초)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핵심 기능 모듈 빌드, 단위 테스트 결과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내부 QA Gate 통과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M4 통합·연계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4.5개월 (M5 초)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연계 테스트 결과서, 통합 테스트 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발주처 중간 검수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M5 최종 납품·검수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6개월 말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완료보고서, 운영 매뉴얼, 소스코드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발주처 최종 검수 확인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단계별 핵심 활동 — 분석·설계 → 개발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[분석] 대상 누리집 AS-IS 현황 분석 · 데이터 연계 현황 파악 · 운영환경 및 인프라 분석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[요구사항] 기능·비기능·인터페이스 요구사항 정의서 작성 → 발주처 확인 서명으로 요건 동결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[설계] AWS 기반 아키텍처 설계 · PostgreSQL DB 설계 · API 인터페이스 정의서 작성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[UI/UX] 와이어프레임 → 프로토타입 → 발주처 시연 및 피드백 반영 (2주 Sprint 사이클)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[개발] React/Next.js 프론트엔드 + Node.js·Python 백엔드 병렬 구현, 매 Sprint 기능 단위 검증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[품질] 단위 테스트(커버리지 80%↑) → 통합 테스트 → 시스템 테스트 순차 진행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단계별 핵심 활동 — 이행·안정화 및 리스크 관리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[데이터 이관] Python 자동화 스크립트로 기존 누리집 콘텐츠 정제·이관 — 수작업 오류 제거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[연계 테스트] 나이스(NEIS)·에듀파인 API 연계 시나리오 100% Pass 확인 후 운영 전환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[보안 점검] OWASP ZAP 취약점 스캔 → High 이상 0건 기준 충족 후 납품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[리스크①] 요구사항 변경 → Sprint 백로그 흡수 + 변경관리 절차(발주처 서면 승인) 적용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[리스크②] 외부 연계 지연 → Mock API 우선 개발로 내부 일정 분리, 연계 완료 시 교체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[하자보수] 납품 후 하자보수 기간 중 전담 인력 지정, 이슈 접수 24시간 이내 초동 조치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사업 전담 조직 및 투입 인력 구성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5994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직무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인원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책임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주요 산출물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투입률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PM (최우진 대표)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일정·예산·리스크 관리, 발주기관 보고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주간업무보고, 사업수행계획서, 완료보고서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PL (기술 총괄)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아키텍처 설계, 개발 표준 수립, 산출물 검토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기술설계서, 코드리뷰 결과, 통합시험계획서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프론트엔드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2명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React·Next.js 반응형 UI 개발, 웹접근성 준수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화면 설계서, 소스코드, 접근성 검토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백엔드 개발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2명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Node.js·Python API 서버 구현, 외부 연계 개발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API 명세서, 소스코드, 연계 테스트 결과서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AI/데이터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콘텐츠 이관 자동화, 데이터 정합성 확보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데이터 이관 계획서, 마이그레이션 결과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인프라 (AWS)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클라우드 아키텍처 구성, 이중화·보안 설정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인프라 구성도, 운영 매뉴얼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UI/UX 디자인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디자인 시스템 수립, 와이어프레임·프로토타입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UI 가이드, 화면 설계서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944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QA/보안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1명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V&amp;V 4단계 테스트 총괄, 보안 취약점 점검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테스트 결과서, 취약점 점검 보고서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400" b="1">
                <a:solidFill>
                  <a:srgbClr val="F58B00"/>
                </a:solidFill>
                <a:latin typeface="맑은 고딕"/>
              </a:rPr>
              <a:t>PART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회사 소개 및 수행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0">
                <a:solidFill>
                  <a:srgbClr val="E6F0FB"/>
                </a:solidFill>
                <a:latin typeface="맑은 고딕"/>
              </a:rPr>
              <a:t>크림하우스 주식회사 — 꿈·열정·창의로 만드는 고객 중심의 ICT 혁신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유사 수행 실적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991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연도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발주처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사업명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규모/역할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공공 누리집 구축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공공기관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행정기관 누리집 구축·고도화 (React/Next.js 기반 반응형)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웹접근성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멀티사이트 CMS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교육·행정기관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다수 산하기관 통합 CMS 구축 (단일 플랫폼 멀티사이트)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통합 운영 전환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데이터 연계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공공기관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외부 행정시스템(API) 연계 및 데이터 이관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Python 자동화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클라우드 인프라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민간·공공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AWS 기반 고가용성 인프라 구성 및 CI/CD 파이프라인 구축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99.9% 가용성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8991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보안 점검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공공기관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OWASP Top10 기반 웹 취약점 점검 및 보안 개선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High 0건 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58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F58B00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크림하우스 핵심 역량 수치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555498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555498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16명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55549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전원 ICT 전문 인력 (외주 재하청 없는 풀스택 내재화)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6500" y="1645920"/>
            <a:ext cx="5554980" cy="3291840"/>
          </a:xfrm>
          <a:prstGeom prst="round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86500" y="2194560"/>
            <a:ext cx="555498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4400" b="1">
                <a:solidFill>
                  <a:srgbClr val="0B2C5A"/>
                </a:solidFill>
                <a:latin typeface="맑은 고딕"/>
              </a:rPr>
              <a:t>5개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86500" y="3566160"/>
            <a:ext cx="555498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300" b="0">
                <a:solidFill>
                  <a:srgbClr val="1F2937"/>
                </a:solidFill>
                <a:latin typeface="맑은 고딕"/>
              </a:rPr>
              <a:t>단일 팀 핵심 기술 스택 — React·Node.js·Python·AWS·PostgreSQL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212080"/>
            <a:ext cx="113385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※ 위 수치는 자사 보유 자산 또는 RFP 분석 기반 추정치이며, 본문에 근거 출처를 함께 기재합니다.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크림하우스 차별화 포인트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4864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외주 재하청 Zero — 기획·개발·QA·인프라를 16인 내부 인력이 전 주기 직접 수행, 품질 일관성 보장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공공 누리집 특화 기술 스택 — React/Next.js(접근성) + AWS(고가용성) + PostgreSQL(정합성) 삼각 체계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법령 대응 선제 내재화 — KWCAG 2.2, OWASP Top10, 전자정부 SW 개발보안 가이드를 개발 표준에 반영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Hybrid 방법론으로 공공 계약 적합성 + 변경 유연성 동시 달성 — 검수 반려 리스크 최소화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F58B00"/>
                </a:solidFill>
              </a:rPr>
              <a:t>▪  </a:t>
            </a:r>
            <a:r>
              <a:rPr sz="1300">
                <a:solidFill>
                  <a:srgbClr val="1F2937"/>
                </a:solidFill>
                <a:latin typeface="맑은 고딕"/>
              </a:rPr>
              <a:t>가격 효율성 — 총 제안금액 490,000,000원(VAT 포함), 예산 대비 98.0% 수준의 현실적 산정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E6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E6F0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600" b="1">
                <a:solidFill>
                  <a:srgbClr val="1E6FE6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1800" b="1">
                <a:solidFill>
                  <a:srgbClr val="0B2C5A"/>
                </a:solidFill>
                <a:latin typeface="맑은 고딕"/>
              </a:rPr>
              <a:t>가격 산정 요약 (SW사업 대가산정 가이드 준거)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9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77070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구성 항목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산정 기준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비고</a:t>
                      </a:r>
                    </a:p>
                  </a:txBody>
                  <a:tcPr>
                    <a:solidFill>
                      <a:srgbClr val="0B2C5A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직접인건비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직무별·등급별 월 노임단가 × 투입 M/M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2024년 상반기 과기정통부 고시 단가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직접경비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여비, 전산장비 임차, 교육훈련비 등 실비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집행 증빙 기반 정산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제경비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직접인건비의 110% 이내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가이드 §5 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기술료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(직접인건비 + 제경비)의 20~40%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가이드 §6 기준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  <a:tr h="770708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부가가치세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공급가액의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70712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총 제안금액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금 490,000,000원 (VAT 포함)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937"/>
                          </a:solidFill>
                          <a:latin typeface="맑은 고딕"/>
                        </a:rPr>
                        <a:t>예산 500,000,000원 대비 98.0%</a:t>
                      </a:r>
                    </a:p>
                  </a:txBody>
                  <a:tcPr>
                    <a:solidFill>
                      <a:srgbClr val="E6F0FB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충청북도교육청 교육행정기관 누리집 기능고도화 사업 용역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C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800" b="0">
                <a:solidFill>
                  <a:srgbClr val="E6F0FB"/>
                </a:solidFill>
                <a:latin typeface="맑은 고딕"/>
              </a:rPr>
              <a:t>크림하우스 주식회사는 충청북도교육청과 함께 충북 교육행정 디지털 전환의 첫 페이지를 만들겠습니다.
대표이사 최우진 | 사업자번호 220-86-89511
E-mail: (담당자 이메일) | Tel: (담당자 연락처)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/>
            <a:r>
              <a:rPr sz="1200" b="0">
                <a:solidFill>
                  <a:srgbClr val="E6F0FB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