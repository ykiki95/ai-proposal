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37160" cy="228600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F0FB"/>
                </a:solidFill>
                <a:latin typeface="맑은 고딕"/>
              </a:rPr>
              <a:t>제 안 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수원시 홈페이지 생성형 AI 챗봇 서비스 구축 용역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제안사  |  크림하우스 주식회사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대표이사  |  최우진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F0FB"/>
                </a:solidFill>
                <a:latin typeface="맑은 고딕"/>
              </a:rPr>
              <a:t>제출일자  |  2026년 04월 22일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C O N T E N T 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00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추진 배경 — 왜 지금, 왜 수원시인가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03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As-Is 문제 진단 — 수원시 홈페이지 5대 페인포인트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06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As-Is → To-Be 전환 비교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08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도입 시 기대되는 핵심 정량 효과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11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전체 시스템 아키텍처 구성도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핵심 솔루션 ① — 생성형 AI 챗봇 엔진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57200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617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핵심 솔루션 ② — 풀스택 통합 운영 플랫폼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07492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20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적용 방법론 — Hybrid(단계적 반복) 방식 채택 근거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57784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623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마스터 스케줄 — 5대 마일스톤 (계약 후 180일)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55448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600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단계별 핵심 활동 상세 — M1~M3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205740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103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단계별 핵심 활동 상세 — M4~M5 및 QA·보안 체계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256032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606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투입 조직 및 핵심 인력 R&amp;R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06324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108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크림하우스 유사 수행실적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356616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611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크림하우스 핵심 역량 수치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406908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114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크림하우스 차별화 포인트 — 왜 크림하우스인가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457200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617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가격 산정 개요 — SW 대가산정 가이드 기반 투입공수(M/M) 방식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5074920"/>
            <a:ext cx="411480" cy="41148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5120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371600" cy="13716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8B00"/>
                </a:solidFill>
                <a:latin typeface="맑은 고딕"/>
              </a:rPr>
              <a:t>PART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사업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F0FB"/>
                </a:solidFill>
                <a:latin typeface="맑은 고딕"/>
              </a:rPr>
              <a:t>수원시가 진짜 원하는 것 — 118만 시민 누구나, 언제나, 즉시 답받는 행정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추진 배경 — 왜 지금, 왜 수원시인가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인구 118만 경기 최대 기초자치단체 — 민원 처리 건수·콜센터 부담 타 지자체 압도적 상회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「디지털플랫폼정부 실현계획」(2022~2026) — 생성형 AI 기반 맞춤 행정서비스 전환 국가 의무화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「지능정보화 기본법」제5조·「전자정부법」제22조 — 지자체의 지능형 전자민원 서비스 제공 법적 근거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수원시 AI전략과 신설(2024) — 市 차원 AI 행정 내재화 의지의 공식 선언, 본 사업 직접 수요 조직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현행 홈페이지는 '시민이 알아서 찾아야 하는 구조' — 디지털 격차 계층(고령자·외국인·장애인) 행정 소외 심화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As-Is 문제 진단 — 수원시 홈페이지 5대 페인포인트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62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페인포인트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현황 (As-Is)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정량 수준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검색 실패율 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키워드 불일치 시 결과 미제공, 전화·방문 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공공포털 평균 이탈율 ~60%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반복 민원 전화 집중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운영시간·주차·신청서류 등 단순 문의 콜센터 반복 접수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단순문의 비율 40~50%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야간·공휴일 서비스 공백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운영시간(09~18시) 외 실시간 안내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1일 중 16시간 무응답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메뉴 구조 복잡성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1·2·3단계 메뉴 수백 개, 스스로 탐색 불가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평균 클릭 5회 이상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비정형 질의 처리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복합 문장형 질문에 기존 FAQ 무응답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자연어 처리율 사실상 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3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As-Is → To-Be 전환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5314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As-Is (현행)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To-Be (개선 후)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민원 응대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FAQ 수동 검색 + 콜센터 전화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생성형 AI 챗봇 24시간 자연어 즉답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정보 탐색 시간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평균 3~5분 (메뉴 탐색·페이지 이동)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평균 10초 이내 (챗봇 단일 창구)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다국어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일부 정적 페이지 번역만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챗봇 내 한·영·중·일 실시간 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야간·휴일 대응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콜센터 미운영, 완전 공백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챗봇 상시 운영 (가용성 99.9% 목표)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행정 데이터 연계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부서별 독립 운영, 통합 조회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Open API·DB 연계 실시간 정보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응답 정확도 관리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부재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피드백 루프·로그 분석으로 지속 개선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4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8B00"/>
                </a:solidFill>
                <a:latin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도입 시 기대되는 핵심 정량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2468879" cy="32004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468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B2C5A"/>
                </a:solidFill>
                <a:latin typeface="맑은 고딕"/>
              </a:rPr>
              <a:t>16시간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맑은 고딕"/>
              </a:rPr>
              <a:t>야간·공휴일 서비스 공백 → 24시간 상시 응답으로 전환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19" y="2103120"/>
            <a:ext cx="2468879" cy="32004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19" y="2743200"/>
            <a:ext cx="2468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B2C5A"/>
                </a:solidFill>
                <a:latin typeface="맑은 고딕"/>
              </a:rPr>
              <a:t>10초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19" y="411480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맑은 고딕"/>
              </a:rPr>
              <a:t>시민 정보 탐색 시간 (현행 3~5분 → 10초 이내)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18" y="2103120"/>
            <a:ext cx="2468879" cy="32004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18" y="2743200"/>
            <a:ext cx="2468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B2C5A"/>
                </a:solidFill>
                <a:latin typeface="맑은 고딕"/>
              </a:rPr>
              <a:t>~50%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18" y="411480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맑은 고딕"/>
              </a:rPr>
              <a:t>콜센터 단순 문의 감소 목표 (지자체 단순문의 비율 기준)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7" y="2103120"/>
            <a:ext cx="2468879" cy="32004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7" y="2743200"/>
            <a:ext cx="2468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B2C5A"/>
                </a:solidFill>
                <a:latin typeface="맑은 고딕"/>
              </a:rPr>
              <a:t>99.9%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7" y="411480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맑은 고딕"/>
              </a:rPr>
              <a:t>클라우드 기반 챗봇 서비스 가용성 목표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5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371600" cy="13716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8B00"/>
                </a:solidFill>
                <a:latin typeface="맑은 고딕"/>
              </a:rPr>
              <a:t>PART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F0FB"/>
                </a:solidFill>
                <a:latin typeface="맑은 고딕"/>
              </a:rPr>
              <a:t>크림하우스의 기술 설계 — 풀스택 일체형 생성형 AI 아키텍처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전체 시스템 아키텍처 구성도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┌──────────────────────────────────────────────────────┐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                 [ 사용자 계층 ]                    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 PC 브라우저 │ 모바일 브라우저 │ 수원시 앱(향후 연동)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└──────────────────────┬───────────────────────────────┘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                │ HTTPS (TLS 1.3)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┌──────────────────────▼───────────────────────────────┐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               [ 프론트엔드 계층 ]                  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        Next.js 14 (App Router / SSR + CSR 혼합)   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┌─────────────┐  ┌──────────────┐  ┌─────────────┐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│ 챗봇 위젯 UI │  │  관리자 콘솔  │  │ 다국어 처리  │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└──────────────────────┬───────────────────────────────┘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                │ REST API / WebSocket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┌──────────────────────▼───────────────────────────────┐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               [ 백엔드 계층 ]                      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Node.js API Gateway  │  Python AI 파이프라인        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├ 세션·인증 관리      │  ├ LLM API 연동 (생성형 AI) 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├ 요청 라우팅         │  ├ 프롬프트 엔지니어링         │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│  └ 로그·모니터링       │  └ RAG (검색 증강 생성)        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7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핵심 솔루션 ① — 생성형 AI 챗봇 엔진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RAG 기반 행정 특화 챗봇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수원시 행정 데이터에 최적화된 검색 증강 생성(RAG) 아키텍처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핵심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LLM + pgvector 기반 RAG — 수원시 민원·행정 문서를 벡터화하여 환각(Hallucination) 최소화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프롬프트 엔지니어링 — 행정 도메인 특화 답변 품질 보장, 답변 범위 이탈 방지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한·영·중·일 다국어 실시간 전환 — 외국인 주민 포함 전 시민 접근성 확보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관리자 콘솔 학습 데이터 갱신 — 수원시 담당자가 직접 FAQ·정책 정보 수정 가능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피드백 루프 내장 — 시민 평가 데이터 자동 수집 → 응답 품질 지속 개선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8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핵심 솔루션 ② — 풀스택 통합 운영 플랫폼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크림하우스 풀스택 단일 기술 스택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React/Next.js · Node.js · Python · AWS · PostgreSQL — 단일 팀 완전 내재화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핵심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Next.js 14 SSR — 웹 접근성(WCAG 2.1 AA) 및 검색엔진 최적화 동시 충족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Node.js API Gateway — 비동기 처리로 동시 사용자 200명 이상 안정 대응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AWS Auto Scaling + WAF — 트래픽 급증 자동 대응, 공공기관 보안 요건 준수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PostgreSQL pgvector — 벡터 검색 확장으로 별도 벡터DB 없이 RAG 구현 (비용 절감)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58B00"/>
                </a:solidFill>
              </a:rPr>
              <a:t>✔  </a:t>
            </a:r>
            <a:r>
              <a:rPr sz="1800">
                <a:solidFill>
                  <a:srgbClr val="333333"/>
                </a:solidFill>
                <a:latin typeface="맑은 고딕"/>
              </a:rPr>
              <a:t>CI/CD 파이프라인 — SonarQube·Jest·Pytest 정적분석·테스트 자동화로 납품 품질 보장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9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371600" cy="13716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8B00"/>
                </a:solidFill>
                <a:latin typeface="맑은 고딕"/>
              </a:rPr>
              <a:t>PART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세부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F0FB"/>
                </a:solidFill>
                <a:latin typeface="맑은 고딕"/>
              </a:rPr>
              <a:t>Hybrid 방법론 × 180일 × 5마일스톤 — 납기 리스크 원천 차단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적용 방법론 — Hybrid(단계적 반복) 방식 채택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Why Hybrid — 공공 연계(요구사항 고정 영역) + 생성형 AI 품질 개선(반복 검증 영역)이 공존하는 사업 특성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분석·설계 단계 → Waterfall: 요구사항 확정·산출물 승인 게이트 설정으로 공공 발주 절차 준수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개발·테스트 단계 → Agile Sprint(2~3주 단위): AI 응답 정확도·UX를 실사용자 피드백으로 반복 개선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이행·안정화 단계 → Waterfall 복귀: 최종 검수·인수인계 확정으로 납품 명확성 확보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일정 단축 필요 시 → Fast Tracking(설계·개발 병행) 우선, Crashing(인력 증원) 2단계 보완 수단으로 운용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효과: 180일 납기 준수 + 생성형 AI 불확실성을 이터레이션으로 흡수 → 결함 없는 납품 보장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11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마스터 스케줄 — 5대 마일스톤 (계약 후 180일)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62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마일스톤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누적일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산출물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사업 착수 및 현황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D+1 ~ D+30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30일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착수보고서, 현황분석보고서, 요구사항정의서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M2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설계 및 아키텍처 확정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D+31 ~ D+60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60일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시스템 설계서, UI/UX 프로토타입, DB 설계서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AI 엔진 및 핵심 기능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D+61 ~ D+120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120일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생성형 AI 챗봇 엔진, API 연동 모듈, 관리자 화면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M4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통합 테스트 및 내부 QA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D+121 ~ D+150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150일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테스트 결과보고서, 성능측정보고서, 결함관리대장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발주처 검수 및 최종 납품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D+151 ~ D+180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180일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검수확인서, 운영자 매뉴얼, 유지보수 계획서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12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단계별 핵심 활동 상세 — M1~M3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M1 착수·분석(D+1~30): 킥오프 회의 → 수원시 홈페이지 구조·민원 데이터 분석 → AI 학습 데이터 범위 및 연계 시스템 확정 → 요구사항정의서 수원시 AI전략과 승인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M2 설계(D+31~60): 전체 시스템 아키텍처 설계 → RAG 파이프라인·DB 스키마 설계 → Next.js 챗봇 위젯 UI/UX 프로토타입 제작 → 발주처 검토 후 설계 게이트 통과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M3 개발(D+61~120): 2~3주 단위 Sprint 반복 — LLM 연동·프롬프트 엔지니어링 → Node.js API Gateway 구현 → 다국어 처리 모듈 → 관리자 콘솔 → AWS 인프라 구성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Sprint별 데모: 매 Sprint 종료 시 수원시 담당자 대상 진척 데모 및 피드백 반영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조기 리스크 관리: 초기 Sprint에서 LLM API 응답 품질·연계 정합성 이슈 선제 발견 및 해소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13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단계별 핵심 활동 상세 — M4~M5 및 QA·보안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M4 통합 테스트(D+121~150): 단위→통합→시스템→인수 4단계 Quality Gate 순차 적용, 이전 단계 미통과 시 다음 단계 진입 차단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시스템 테스트 기준: 동시 사용자 200명 응답 3초 이하(k6 부하테스트), 보안 High 등급 취약점 0건(OWASP ZAP), 전 API 정상 응답률 100%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코드 품질 3중 방어: ESLint·Pylint·SonarQube CI 자동 정적분석 + PR 2인 리뷰 필수 + 코드 커버리지 80% 이상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보안 관리: 프롬프트 인젝션 방어 로직 내장, 개인정보 필터링, 공공기관 보안 요건 준수 AWS WAF 적용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M5 검수·납품(D+151~180): 수원시 AI전략과 UAT 시나리오 검증 → 기능 요건 충족률 100% 확인 → 검수확인서 서명 → 운영자 매뉴얼·유지보수 계획서 최종 납품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14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투입 조직 및 핵심 인력 R&amp;R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직무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책임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투입률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프로젝트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일정·예산·리스크 관리, 발주처 보고, 검수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PL (AI·백엔드)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AI·서버 개발 총괄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생성형 AI 챗봇 설계·구현, LLM 연동, Python/Node.js API 개발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AI 개발자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생성형 AI 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LLM 파인튜닝·프롬프트 엔지니어링, 챗봇 대화 흐름 설계, 답변 품질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PL (프론트엔드)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UI 개발 총괄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React·Next.js 챗봇 위젯·관리자 콘솔 개발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PL (인프라·보안)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AWS·DevOps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클라우드 인프라 구성, CI/CD, 보안 아키텍처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PL (QA·테스트)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품질 보증 총괄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4단계 테스트 체계 수행, 결함 관리대장 운영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UI 디자이너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UX·퍼블리싱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챗봇 위젯 UI 설계, 웹 접근성(WCAG 2.1)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백엔드 개발자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서버·DB 구현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PostgreSQL pgvector 설계, API 연동 모듈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FE 개발자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프론트 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다국어 처리, SSR 최적화, E2E 테스트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15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371600" cy="13716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8B00"/>
                </a:solidFill>
                <a:latin typeface="맑은 고딕"/>
              </a:rPr>
              <a:t>PART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회사 소개 · 수행 실적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F0FB"/>
                </a:solidFill>
                <a:latin typeface="맑은 고딕"/>
              </a:rPr>
              <a:t>생성형 AI × 공공 웹서비스 × 클라우드 — 세 축을 단일 팀으로 완결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크림하우스 유사 수행실적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62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연도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발주처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사업명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규모/역할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공공기관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생성형 AI 기반 민원 안내 챗봇 구축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AI 챗봇 엔진 / RAG 아키텍처 / 다국어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지자체 B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공공 홈페이지 풀스택 개선 및 클라우드 이관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Next.js SSR / AWS / PostgreSQL / 접근성 인증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공공기관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LLM 연동 행정 문서 자동 분류 시스템 구축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Python / 프롬프트 엔지니어링 / 데이터 파이프라인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2023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민간 D사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대화형 AI 고객 응대 플랫폼 구축 및 운영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Node.js / React / AWS Auto Scaling / 99.9% 가용성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공공기관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모바일 민원 앱 및 관리자 포털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React Native / REST API / 공공 보안 요건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17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8B00"/>
                </a:solidFill>
                <a:latin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크림하우스 핵심 역량 수치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383279" cy="32004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383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B2C5A"/>
                </a:solidFill>
                <a:latin typeface="맑은 고딕"/>
              </a:rPr>
              <a:t>16명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맑은 고딕"/>
              </a:rPr>
              <a:t>전원 풀스택·AI·클라우드 전문 인력 — 본 사업 전담 9명 직접 배정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2103120"/>
            <a:ext cx="3383279" cy="32004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2743200"/>
            <a:ext cx="3383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B2C5A"/>
                </a:solidFill>
                <a:latin typeface="맑은 고딕"/>
              </a:rPr>
              <a:t>5종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411480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맑은 고딕"/>
              </a:rPr>
              <a:t>단일 기술 스택 완전 내재화 (React/Next.js · Node.js · Python · AWS · PostgreSQL)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2103120"/>
            <a:ext cx="3383279" cy="32004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8" y="2743200"/>
            <a:ext cx="3383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B2C5A"/>
                </a:solidFill>
                <a:latin typeface="맑은 고딕"/>
              </a:rPr>
              <a:t>180일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8" y="411480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맑은 고딕"/>
              </a:rPr>
              <a:t>납기 준수 보장 — 내부 QA 완료를 검수 개시 14일 전으로 고정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18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크림하우스 차별화 포인트 — 왜 크림하우스인가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생성형 AI + 공공 행정 이중 전문성 — LLM 연동·RAG 아키텍처 구현 역량과 공공 웹서비스 운영 경험을 단일 팀이 보유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풀스택 단일 기술 스택 — 프론트엔드·백엔드·AI·인프라를 외주 없이 내재화, 의사결정 속도·품질 책임 극대화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소규모 전문 조직의 이점 — 16인 집중 편성으로 대형 조직 대비 빠른 의사결정, 180일 납기 준수에 최적화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Hybrid 방법론 적용 — 공공 발주 단계별 승인 절차 준수 + Sprint 반복으로 AI 품질 불확실성 조기 흡수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4단계 QA 체계 + 코드 품질 3중 방어 — 결함 제로(Zero-Defect) 납품으로 수원시 AI전략과 KPI 직접 지원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● 장기 파트너십 지향 — 납품 후 유지보수·학습 데이터 갱신 체계 구축으로 수원시 AI 행정 선도 모델 지속 지원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19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가격 산정 개요 — SW 대가산정 가이드 기반 투입공수(M/M) 방식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65314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PM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AI/ML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풀스택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UI/UX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소계(M/M)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요건 정의·분석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1~4주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설계 (시스템·UI)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5~8주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4.5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AI·핵심 기능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9~16주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통합 테스트·QA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17~20주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4.0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검수·납품·안정화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21~24주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24주(180일)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3.5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4.5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4.5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3.0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3.0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21.0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수원시 홈페이지 생성형 AI 챗봇 서비스 구축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 /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6F0FB"/>
                </a:solidFill>
                <a:latin typeface="맑은 고딕"/>
              </a:rPr>
              <a:t>크림하우스 주식회사는 수원시 118만 시민이 언제나, 누구나, 즉시 답받는 행정을 함께 만들어 가겠습니다.
대표이사 최우진 | 크림하우스 주식회사
사업자등록번호 220-86-89511
수원시 AI전략과 담당자: 주현진 (031-5191-3725)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F0FB"/>
                </a:solidFill>
                <a:latin typeface="맑은 고딕"/>
              </a:rPr>
              <a:t>크림하우스 주식회사  |  대표 최우진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