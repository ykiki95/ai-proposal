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notesMaster" Target="notesMasters/notesMaster1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 섹션은 발주처의 stated need(전송 고도화)와 real need(정책 데이터 허브 구축)를 동시에 다룸을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법령·국정과제 인용으로 사업의 불가피성을 먼저 각인시킨다.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AS-IS 항목이 TO-BE와 1:1 대응됨을 평가위원에게 시각적으로 각인시킨다.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외부 연계 인터페이스를 설계 단계부터 반영하여 차기 확장 가능성을 구조로 증명한다.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지도 기반 시각화로 비전문가 운용자도 즉시 현황 파악 가능함을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4종 화면이 유기적으로 연결된 단일 플랫폼임을 강조하며, 운영 편의성을 부각한다.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이상 감지 후 5초 이내 알림이라는 정량 목표를 화면 구성으로 직접 증명한다.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정량 목표를 카드 형태로 명시하여 평가위원의 기억에 남도록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경쟁사 대비 차별점을 '단일팀 일관성'과 '이중 언어 역량'으로 집약하여 각인시킨다.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발주처의 단기 KPI와 장기 정책 비전을 동시에 충족함을 한 슬라이드로 증명한다.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 섹션은 개인 모빌리티 장치 모니터링 정보 전송 기술 고도화 사업의 일정·위험 통제 전략을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각 마일스톤은 발주처 서명을 필수 완료 요건으로 하여 단계 전환 기준을 명확히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3레벨 WBS로 작업 누락을 방지하고 책임자를 명확히 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■ 주 수행, □ 보조 수행. 실제 계약 기간 확정 시 비례 조정한다.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R1·R2가 High 등급으로 최우선 관리 대상이며, 착수 단계부터 모니터링한다.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일정 위기 발생 시 의사결정 시간을 단축하기 위해 두 기법의 적용 조건을 사전에 명확히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내부 QA를 발주처 검수 기준일 2주 이상 선행 완료하는 구조로 검수 통과율을 극대화한다.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크림하우스의 16인 전문 팀이 체계적 일정·리스크 관리로 본 사업을 완수할 것이다.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 섹션에서는 개인 모빌리티 모니터링 시스템의 품질·보안·운영 안정성을 어떻게 확보하는지 단계별로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실시간 데이터 전송 시스템 특성상 각 단계에서 결함을 조기 차단하는 것이 핵심이다.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커버리지 리포트를 한국생산기술연구원에 정기 공유하여 투명성을 확보한다.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심층 방어(Defense in Depth) 원칙에 따라 단일 계층 실패 시 나머지 계층이 보완한다.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개인정보 보호법 및 위치정보법 요건을 충족하는 구체 기술 수단을 명시한다.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수치 기반 SLA를 사전 합의하여 운영 중 분쟁을 예방하고 신뢰를 확보한다.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P1 발생 시 야간·휴일 무관하게 On-call 로테이션으로 30분 내 대응을 보장한다.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보유 기술 스택이 본 사업 요구사항과 직접 매칭됨을 강조하여 평가위원 신뢰를 확보한다.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과기정통부 SW사업 대가산정 가이드를 준용하여 63,860,000원 예산 범위 내 최적 구조로 편성하였음을 강조한다.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FP 방식 대신 투입공수 방식을 선택한 이유 — 기능 경계보다 기술 고도화 공수가 명확한 사업임을 설명한다.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본 사업에는 고급(PM·SE)·중급(개발·품질)을 적용하며, 가이드 하한 수준을 유지해 예산 효율을 극대화한다.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개발·구현 단계에 공수 55%를 집중 배치하여 기술 고도화 핵심 과업을 충실히 이행한다.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이윤율 12%는 가이드 상한 25% 대비 보수적 수준으로, 한국생산기술연구원과의 장기 협력 의지를 반영한 수치이다.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예산 전액을 과업에 집중 투입하면서 이윤은 보수적으로 설정한 구조임을 평가위원에게 명확히 전달한다.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검수 연동 분할 지급으로 발주처 지출 리스크를 분산하고, 수행사 현금 흐름도 안정화한다.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변경관리·정산·하자보수 조건이 모두 발주처 보호 중심으로 설계되어 있음을 강조하고, 계약 리스크 Zero 구조임을 어필한다.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698480" y="0"/>
            <a:ext cx="1490472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548640" y="2103120"/>
            <a:ext cx="109728" cy="2103120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82880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FEF3C7"/>
                </a:solidFill>
                <a:latin typeface="맑은 고딕"/>
              </a:rPr>
              <a:t>제 안 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33172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맑은 고딕"/>
              </a:rPr>
              <a:t>(3차)개인 모빌리티 장치 모니터링 정보 전송 기술 고도화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48463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EF3C7"/>
                </a:solidFill>
                <a:latin typeface="맑은 고딕"/>
              </a:rPr>
              <a:t>발주기관  |  한국생산기술연구원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30352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제안사  |  크림하우스 주식회사  (대표 최우진)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6126480"/>
            <a:ext cx="9144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EF3C7"/>
                </a:solidFill>
                <a:latin typeface="맑은 고딕"/>
              </a:rPr>
              <a:t>제출일자  |  2026년 04월 24일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01168"/>
            <a:ext cx="109728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맑은 고딕"/>
              </a:rPr>
              <a:t>C O N T E N T S</a:t>
            </a:r>
          </a:p>
        </p:txBody>
      </p:sp>
      <p:sp>
        <p:nvSpPr>
          <p:cNvPr id="5" name="Oval 4"/>
          <p:cNvSpPr/>
          <p:nvPr/>
        </p:nvSpPr>
        <p:spPr>
          <a:xfrm>
            <a:off x="640080" y="1188720"/>
            <a:ext cx="365760" cy="36576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사업 배경/목적/As-Is·To-Be 분석</a:t>
            </a:r>
          </a:p>
        </p:txBody>
      </p:sp>
      <p:sp>
        <p:nvSpPr>
          <p:cNvPr id="7" name="Oval 6"/>
          <p:cNvSpPr/>
          <p:nvPr/>
        </p:nvSpPr>
        <p:spPr>
          <a:xfrm>
            <a:off x="640080" y="1691640"/>
            <a:ext cx="365760" cy="36576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17282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시스템 구성도 / 기술 스택 / To-Be 화면</a:t>
            </a:r>
          </a:p>
        </p:txBody>
      </p:sp>
      <p:sp>
        <p:nvSpPr>
          <p:cNvPr id="9" name="Oval 8"/>
          <p:cNvSpPr/>
          <p:nvPr/>
        </p:nvSpPr>
        <p:spPr>
          <a:xfrm>
            <a:off x="640080" y="2194560"/>
            <a:ext cx="365760" cy="36576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22311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단계별 구축 방법론 / 프로세스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697480"/>
            <a:ext cx="365760" cy="36576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2734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WBS / 일정 / 리스크 관리</a:t>
            </a:r>
          </a:p>
        </p:txBody>
      </p:sp>
      <p:sp>
        <p:nvSpPr>
          <p:cNvPr id="13" name="Oval 12"/>
          <p:cNvSpPr/>
          <p:nvPr/>
        </p:nvSpPr>
        <p:spPr>
          <a:xfrm>
            <a:off x="6400800" y="1188720"/>
            <a:ext cx="365760" cy="36576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903720" y="122529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투입 조직 / 핵심 인력 이력</a:t>
            </a:r>
          </a:p>
        </p:txBody>
      </p:sp>
      <p:sp>
        <p:nvSpPr>
          <p:cNvPr id="15" name="Oval 14"/>
          <p:cNvSpPr/>
          <p:nvPr/>
        </p:nvSpPr>
        <p:spPr>
          <a:xfrm>
            <a:off x="6400800" y="1691640"/>
            <a:ext cx="365760" cy="36576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903720" y="172821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회사 소개 / 유사 실적</a:t>
            </a:r>
          </a:p>
        </p:txBody>
      </p:sp>
      <p:sp>
        <p:nvSpPr>
          <p:cNvPr id="17" name="Oval 16"/>
          <p:cNvSpPr/>
          <p:nvPr/>
        </p:nvSpPr>
        <p:spPr>
          <a:xfrm>
            <a:off x="6400800" y="2194560"/>
            <a:ext cx="365760" cy="36576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07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03720" y="223113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QA / 보안 / 유지보수 방안</a:t>
            </a:r>
          </a:p>
        </p:txBody>
      </p:sp>
      <p:sp>
        <p:nvSpPr>
          <p:cNvPr id="19" name="Oval 18"/>
          <p:cNvSpPr/>
          <p:nvPr/>
        </p:nvSpPr>
        <p:spPr>
          <a:xfrm>
            <a:off x="6400800" y="2697480"/>
            <a:ext cx="365760" cy="36576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100" b="1">
                <a:solidFill>
                  <a:srgbClr val="FFFFFF"/>
                </a:solidFill>
              </a:rPr>
              <a:t>08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03720" y="2734056"/>
            <a:ext cx="5212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F2937"/>
                </a:solidFill>
                <a:latin typeface="맑은 고딕"/>
              </a:rPr>
              <a:t>가격 산정 / 계약 조건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사업 배경·목적 및 As-Is·To-Be 분석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PM 모니터링 데이터 고도화의 정책적 필연성과 크림하우스의 해법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왜 지금 PM 모니터링 고도화인가 — 정책·사회적 배경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도로교통법 개정(2021.5) : PM 차도 운행·면허 의무화 법제화, 그러나 실태 파악 인프라는 공백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제2차 지능형교통체계 기본계획(2021~2025) : 모빌리티 데이터 실시간 통합 관리를 국가 핵심 과제로 지정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디지털 플랫폼 정부 로드맵 : 공공 데이터 실시간 연계를 전제로 설계 — PM 데이터가 핵심 연결고리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본 사업('3차')은 1·2차에서 구축한 기초 체계의 한계를 공식 인정하고 고도화를 요구하는 단계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 / 45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현행 PM 모니터링 시스템 vs. 고도화 후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051560"/>
            <a:ext cx="4937760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1247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AS-IS · 현행</a:t>
            </a:r>
          </a:p>
        </p:txBody>
      </p:sp>
      <p:sp>
        <p:nvSpPr>
          <p:cNvPr id="9" name="Rectangle 8"/>
          <p:cNvSpPr/>
          <p:nvPr/>
        </p:nvSpPr>
        <p:spPr>
          <a:xfrm>
            <a:off x="6885432" y="1051560"/>
            <a:ext cx="4937760" cy="50292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85432" y="1124712"/>
            <a:ext cx="49377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맑은 고딕"/>
              </a:rPr>
              <a:t>TO-BE · 개선 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65760" y="1645920"/>
            <a:ext cx="4937760" cy="877824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737360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2118"/>
                </a:solidFill>
                <a:latin typeface="맑은 고딕"/>
              </a:rPr>
              <a:t>❌  데이터 전송 단절 — 수집 누락으로 모니터링 커버리지 저하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885432" y="1645920"/>
            <a:ext cx="4937760" cy="877824"/>
          </a:xfrm>
          <a:prstGeom prst="round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68312" y="1737360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✅  MQTT+AWS IoT Core — 데이터 수집 완결률 99% 이상 목표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365760" y="2615184"/>
            <a:ext cx="4937760" cy="877824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706624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2118"/>
                </a:solidFill>
                <a:latin typeface="맑은 고딕"/>
              </a:rPr>
              <a:t>❌  배치(Batch) 처리 — 이상 감지까지 수 분~수십 분 지연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885432" y="2615184"/>
            <a:ext cx="4937760" cy="877824"/>
          </a:xfrm>
          <a:prstGeom prst="round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68312" y="2706624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✅  이벤트 드리븐 실시간 파이프라인 — 이상 감지 알림 5초 이내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365760" y="3584448"/>
            <a:ext cx="4937760" cy="877824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3675888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2118"/>
                </a:solidFill>
                <a:latin typeface="맑은 고딕"/>
              </a:rPr>
              <a:t>❌  텍스트·수치 중심 대시보드 — 비전문가 직관 파악 곤란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885432" y="3584448"/>
            <a:ext cx="4937760" cy="877824"/>
          </a:xfrm>
          <a:prstGeom prst="round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68312" y="3675888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✅  React·Next.js 통합 대시보드 — 지도·차트·상태 일람 단일 화면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65760" y="4553712"/>
            <a:ext cx="4937760" cy="877824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4645152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2118"/>
                </a:solidFill>
                <a:latin typeface="맑은 고딕"/>
              </a:rPr>
              <a:t>❌  제조사별 포맷 상이 — 신규 기기 등록 시 개별 파싱 작업 필요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885432" y="4553712"/>
            <a:ext cx="4937760" cy="877824"/>
          </a:xfrm>
          <a:prstGeom prst="round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068312" y="4645152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✅  표준 수집 어댑터 — 다기종 기기 자동 파싱·통합 수집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5760" y="5522976"/>
            <a:ext cx="4937760" cy="877824"/>
          </a:xfrm>
          <a:prstGeom prst="roundRect">
            <a:avLst/>
          </a:prstGeom>
          <a:solidFill>
            <a:srgbClr val="FDECEA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5614416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02118"/>
                </a:solidFill>
                <a:latin typeface="맑은 고딕"/>
              </a:rPr>
              <a:t>❌  단일 서버 구조 — 기기 수 증가 시 성능 병목 발생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885432" y="5522976"/>
            <a:ext cx="4937760" cy="877824"/>
          </a:xfrm>
          <a:prstGeom prst="round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68312" y="5614416"/>
            <a:ext cx="4572000" cy="6949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F2937"/>
                </a:solidFill>
                <a:latin typeface="맑은 고딕"/>
              </a:rPr>
              <a:t>✅  AWS 자동 스케일링 — 기기 수 증가에 비례한 인프라 자동 확장</a:t>
            </a:r>
          </a:p>
        </p:txBody>
      </p:sp>
      <p:sp>
        <p:nvSpPr>
          <p:cNvPr id="31" name="Right Arrow 30"/>
          <p:cNvSpPr/>
          <p:nvPr/>
        </p:nvSpPr>
        <p:spPr>
          <a:xfrm>
            <a:off x="5394960" y="3360420"/>
            <a:ext cx="1828800" cy="731520"/>
          </a:xfrm>
          <a:prstGeom prst="rightArrow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394960" y="29489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1F2937"/>
                </a:solidFill>
                <a:latin typeface="맑은 고딕"/>
              </a:rPr>
              <a:t>풀스택 단일팀 일괄 고도화</a:t>
            </a:r>
          </a:p>
        </p:txBody>
      </p:sp>
      <p:sp>
        <p:nvSpPr>
          <p:cNvPr id="33" name="Rectangle 3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5 / 45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To-Be 시스템 아키텍처 — PM 모니터링 고도화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554480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137160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PM 기기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100584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40280" y="114300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전동킥보드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65904" y="100584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57344" y="114300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전동자전거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982968" y="100584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74408" y="114300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기타 PM 기기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2103120"/>
            <a:ext cx="1554480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46888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데이터 수집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148840" y="210312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240280" y="224028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MQTT 브로커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565904" y="210312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57344" y="224028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AWS IoT Core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6982968" y="210312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74408" y="224028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다기종 어댑터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02920" y="3200400"/>
            <a:ext cx="1554480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02920" y="356616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백엔드 처리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148840" y="320040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240280" y="333756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Node.js 이벤트 파이프라인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565904" y="320040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657344" y="333756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Python 분석 모듈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982968" y="320040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74408" y="333756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REST API Gateway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02920" y="4297680"/>
            <a:ext cx="1554480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466344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데이터 저장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148840" y="429768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240280" y="443484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PostgreSQL (시계열 최적화)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565904" y="429768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657344" y="443484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AWS S3 (원시 데이터)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982968" y="429768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074408" y="443484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캐시 레이어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5394960"/>
            <a:ext cx="1554480" cy="10058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502920" y="5760720"/>
            <a:ext cx="1554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맑은 고딕"/>
              </a:rPr>
              <a:t>프론트엔드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2148840" y="539496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2240280" y="553212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React·Next.js 대시보드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565904" y="539496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657344" y="553212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알림·리포트 모듈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982968" y="5394960"/>
            <a:ext cx="2325624" cy="100584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074408" y="5532120"/>
            <a:ext cx="214274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관리자 콘솔</a:t>
            </a:r>
          </a:p>
        </p:txBody>
      </p:sp>
      <p:sp>
        <p:nvSpPr>
          <p:cNvPr id="47" name="Rectangle 46"/>
          <p:cNvSpPr/>
          <p:nvPr/>
        </p:nvSpPr>
        <p:spPr>
          <a:xfrm>
            <a:off x="9445752" y="1005840"/>
            <a:ext cx="2377440" cy="457200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445752" y="1060704"/>
            <a:ext cx="2377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외부 연계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9445752" y="1554480"/>
            <a:ext cx="2377440" cy="1584960"/>
          </a:xfrm>
          <a:prstGeom prst="roundRect">
            <a:avLst/>
          </a:prstGeom>
          <a:solidFill>
            <a:srgbClr val="FFFFFF"/>
          </a:solidFill>
          <a:ln>
            <a:solidFill>
              <a:srgbClr val="F5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491472" y="22098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국토교통부 플랫폼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9445752" y="3230880"/>
            <a:ext cx="2377440" cy="1584960"/>
          </a:xfrm>
          <a:prstGeom prst="roundRect">
            <a:avLst/>
          </a:prstGeom>
          <a:solidFill>
            <a:srgbClr val="FFFFFF"/>
          </a:solidFill>
          <a:ln>
            <a:solidFill>
              <a:srgbClr val="F5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491472" y="38862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지자체 교통 시스템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9445752" y="4907280"/>
            <a:ext cx="2377440" cy="1584960"/>
          </a:xfrm>
          <a:prstGeom prst="roundRect">
            <a:avLst/>
          </a:prstGeom>
          <a:solidFill>
            <a:srgbClr val="FFFFFF"/>
          </a:solidFill>
          <a:ln>
            <a:solidFill>
              <a:srgbClr val="F5B7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9491472" y="5562600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PM 제조사 API</a:t>
            </a:r>
          </a:p>
        </p:txBody>
      </p:sp>
      <p:sp>
        <p:nvSpPr>
          <p:cNvPr id="55" name="Rectangle 5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6 / 45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To-Be 화면 — 실시간 모니터링 대시보드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60120"/>
            <a:ext cx="8531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관제 메인 화면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280160"/>
            <a:ext cx="8531352" cy="5120640"/>
          </a:xfrm>
          <a:prstGeom prst="roundRect">
            <a:avLst/>
          </a:prstGeom>
          <a:solidFill>
            <a:srgbClr val="21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1952" y="1353312"/>
            <a:ext cx="8385048" cy="4974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353312"/>
            <a:ext cx="8385048" cy="3200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3392" y="1389888"/>
            <a:ext cx="8202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PM 모니터링 통합 대시보드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5104" y="1719072"/>
            <a:ext cx="8238744" cy="1060704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66544" y="1764792"/>
            <a:ext cx="805586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실시간 지도(기기 위치)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75104" y="2825496"/>
            <a:ext cx="8238744" cy="106070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4" y="2871216"/>
            <a:ext cx="805586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맑은 고딕"/>
              </a:rPr>
              <a:t>기기 상태 요약 카드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5104" y="3931920"/>
            <a:ext cx="8238744" cy="106070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66544" y="3977640"/>
            <a:ext cx="805586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맑은 고딕"/>
              </a:rPr>
              <a:t>이상 감지 알림 피드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75104" y="5038344"/>
            <a:ext cx="8238744" cy="1060704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66544" y="5084064"/>
            <a:ext cx="805586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맑은 고딕"/>
              </a:rPr>
              <a:t>시간대별 수집량 차트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1952" y="6099048"/>
            <a:ext cx="8385048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6117336"/>
            <a:ext cx="8202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맑은 고딕"/>
              </a:rPr>
              <a:t>한국생산기술연구원 | 크림하우스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7 / 45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To-Be 화면 모음 — 주요 기능 4종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" y="960120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기기 등록·관리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16152"/>
            <a:ext cx="5591556" cy="2372868"/>
          </a:xfrm>
          <a:prstGeom prst="roundRect">
            <a:avLst/>
          </a:prstGeom>
          <a:solidFill>
            <a:srgbClr val="21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84632" y="1289304"/>
            <a:ext cx="5445252" cy="22265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84632" y="1289304"/>
            <a:ext cx="5445252" cy="20116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1325880"/>
            <a:ext cx="52623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기기 관리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7784" y="1536192"/>
            <a:ext cx="5298948" cy="94411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" y="1581912"/>
            <a:ext cx="5116068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기기 목록·상태 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57784" y="2526030"/>
            <a:ext cx="5298948" cy="94411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9224" y="2571750"/>
            <a:ext cx="5116068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2937"/>
                </a:solidFill>
                <a:latin typeface="맑은 고딕"/>
              </a:rPr>
              <a:t>신규 기기 등록 폼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85916" y="960120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데이터 전송 현황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85916" y="1216152"/>
            <a:ext cx="5591556" cy="2372868"/>
          </a:xfrm>
          <a:prstGeom prst="roundRect">
            <a:avLst/>
          </a:prstGeom>
          <a:solidFill>
            <a:srgbClr val="21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59068" y="1289304"/>
            <a:ext cx="5445252" cy="22265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259068" y="1289304"/>
            <a:ext cx="5445252" cy="20116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50508" y="1325880"/>
            <a:ext cx="52623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전송 모니터링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332220" y="1536192"/>
            <a:ext cx="5298948" cy="94411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23660" y="1581912"/>
            <a:ext cx="5116068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2937"/>
                </a:solidFill>
                <a:latin typeface="맑은 고딕"/>
              </a:rPr>
              <a:t>전송 성공률 게이지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332220" y="2526030"/>
            <a:ext cx="5298948" cy="94411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23660" y="2571750"/>
            <a:ext cx="5116068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2937"/>
                </a:solidFill>
                <a:latin typeface="맑은 고딕"/>
              </a:rPr>
              <a:t>누락 패킷 알림 목록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11480" y="3771900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분석 리포트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4027932"/>
            <a:ext cx="5591556" cy="2372868"/>
          </a:xfrm>
          <a:prstGeom prst="roundRect">
            <a:avLst/>
          </a:prstGeom>
          <a:solidFill>
            <a:srgbClr val="21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484632" y="4101084"/>
            <a:ext cx="5445252" cy="22265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84632" y="4101084"/>
            <a:ext cx="5445252" cy="20116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76072" y="4137660"/>
            <a:ext cx="52623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분석·리포트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57784" y="4347972"/>
            <a:ext cx="5298948" cy="94411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49224" y="4393692"/>
            <a:ext cx="5116068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2937"/>
                </a:solidFill>
                <a:latin typeface="맑은 고딕"/>
              </a:rPr>
              <a:t>기간별 운행 통계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57784" y="5337810"/>
            <a:ext cx="5298948" cy="94411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49224" y="5383530"/>
            <a:ext cx="5116068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2937"/>
                </a:solidFill>
                <a:latin typeface="맑은 고딕"/>
              </a:rPr>
              <a:t>PDF 내보내기 버튼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85916" y="3771900"/>
            <a:ext cx="5591556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1F2937"/>
                </a:solidFill>
                <a:latin typeface="맑은 고딕"/>
              </a:rPr>
              <a:t>관리자 설정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185916" y="4027932"/>
            <a:ext cx="5591556" cy="2372868"/>
          </a:xfrm>
          <a:prstGeom prst="roundRect">
            <a:avLst/>
          </a:prstGeom>
          <a:solidFill>
            <a:srgbClr val="21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ectangle 35"/>
          <p:cNvSpPr/>
          <p:nvPr/>
        </p:nvSpPr>
        <p:spPr>
          <a:xfrm>
            <a:off x="6259068" y="4101084"/>
            <a:ext cx="5445252" cy="2226564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6259068" y="4101084"/>
            <a:ext cx="5445252" cy="201168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350508" y="4137660"/>
            <a:ext cx="5262372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시스템 설정</a:t>
            </a:r>
          </a:p>
        </p:txBody>
      </p:sp>
      <p:sp>
        <p:nvSpPr>
          <p:cNvPr id="39" name="Rectangle 38"/>
          <p:cNvSpPr/>
          <p:nvPr/>
        </p:nvSpPr>
        <p:spPr>
          <a:xfrm>
            <a:off x="6332220" y="4347972"/>
            <a:ext cx="5298948" cy="944118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423660" y="4393692"/>
            <a:ext cx="5116068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1F2937"/>
                </a:solidFill>
                <a:latin typeface="맑은 고딕"/>
              </a:rPr>
              <a:t>알림 임계값 설정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332220" y="5337810"/>
            <a:ext cx="5298948" cy="944118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23660" y="5383530"/>
            <a:ext cx="5116068" cy="9441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>
                <a:solidFill>
                  <a:srgbClr val="FFFFFF"/>
                </a:solidFill>
                <a:latin typeface="맑은 고딕"/>
              </a:rPr>
              <a:t>사용자 권한 관리</a:t>
            </a:r>
          </a:p>
        </p:txBody>
      </p:sp>
      <p:sp>
        <p:nvSpPr>
          <p:cNvPr id="43" name="Rectangle 4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8 / 45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09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To-Be 화면 — 이상 감지 알림 상세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960120"/>
            <a:ext cx="8531352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1F2937"/>
                </a:solidFill>
                <a:latin typeface="맑은 고딕"/>
              </a:rPr>
              <a:t>알림 상세 화면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828800" y="1280160"/>
            <a:ext cx="8531352" cy="5120640"/>
          </a:xfrm>
          <a:prstGeom prst="roundRect">
            <a:avLst/>
          </a:prstGeom>
          <a:solidFill>
            <a:srgbClr val="21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901952" y="1353312"/>
            <a:ext cx="8385048" cy="497433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901952" y="1353312"/>
            <a:ext cx="8385048" cy="32004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993392" y="1389888"/>
            <a:ext cx="8202168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이상 감지 알림 센터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975104" y="1719072"/>
            <a:ext cx="8238744" cy="1060704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066544" y="1764792"/>
            <a:ext cx="805586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FFFFFF"/>
                </a:solidFill>
                <a:latin typeface="맑은 고딕"/>
              </a:rPr>
              <a:t>알림 발생 위치 지도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975104" y="2825496"/>
            <a:ext cx="8238744" cy="106070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066544" y="2871216"/>
            <a:ext cx="805586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맑은 고딕"/>
              </a:rPr>
              <a:t>이상 유형·심각도 배지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75104" y="3931920"/>
            <a:ext cx="8238744" cy="1060704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66544" y="3977640"/>
            <a:ext cx="805586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맑은 고딕"/>
              </a:rPr>
              <a:t>시계열 데이터 미리보기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975104" y="5038344"/>
            <a:ext cx="8238744" cy="1060704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066544" y="5084064"/>
            <a:ext cx="8055864" cy="106070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1F2937"/>
                </a:solidFill>
                <a:latin typeface="맑은 고딕"/>
              </a:rPr>
              <a:t>처리 이력·담당자 로그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901952" y="6099048"/>
            <a:ext cx="8385048" cy="22860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993392" y="6117336"/>
            <a:ext cx="8202168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FFFFFF"/>
                </a:solidFill>
                <a:latin typeface="맑은 고딕"/>
              </a:rPr>
              <a:t>실시간 갱신 | 5초 이내 알림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9 / 45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10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To-Be 핵심 목표 지표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99%+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데이터 수집 완결률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MQTT+AWS IoT Core 재전송 큐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471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5초 이내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이상 감지 알림 발송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이벤트 드리븐 파이프라인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다기종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PM 기기 통합 수집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표준 어댑터 자동 파싱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829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829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자동 확장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29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인프라 스케일링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29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AWS Auto Scaling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10 / 45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11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크림하우스가 적임자인 3가지 이유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① 풀스택 단일팀 : React~AWS까지 16인이 일괄 담당 — 인터페이스 단절·커뮤니케이션 오버헤드 Zero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② AWS 클라우드 네이티브 : IoT Core·Lambda·RDS(PostgreSQL) 결합 — 기기 수 증가에 자동 대응, 후속 확장 재개발 불필요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③ Node.js+Python 이중 역량 : IoT 이벤트 처리(Node.js)와 데이터 분석(Python)을 단일팀 내 최적 언어로 구현 — PM 모니터링 실시간+배치 혼합 구조에 결정적 우위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11 / 45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12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지금 당장의 가치 vs. 차기 확장 가치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005840"/>
            <a:ext cx="5486400" cy="512064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005840"/>
            <a:ext cx="5486400" cy="502920"/>
          </a:xfrm>
          <a:prstGeom prst="rect">
            <a:avLst/>
          </a:prstGeom>
          <a:solidFill>
            <a:srgbClr val="4B55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본 사업 완료 시 (즉시 가치)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PM 데이터 전송 안정화 — 수집 완결률 99% 이상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실시간 대시보드 — 연구원·운영 담당자 즉시 활용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다기종 기기 통합 수집 체계 완성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4B5563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납기 내 검수 완료 — 애자일 2주 스프린트 운영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63640" y="1005840"/>
            <a:ext cx="5486400" cy="5120640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63640" y="1005840"/>
            <a:ext cx="5486400" cy="50292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09728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맑은 고딕"/>
              </a:rPr>
              <a:t>후속 과제·정책 연계 (확장 가치)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737360"/>
            <a:ext cx="493776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b="1">
                <a:solidFill>
                  <a:srgbClr val="E85A00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국토부·지자체 교통 플랫폼에 API 제공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85A00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AI 기반 사고 예측 분석 모듈 추가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85A00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민간 PM 사업자 데이터 연계 허브로 진화</a:t>
            </a:r>
          </a:p>
          <a:p>
            <a:pPr>
              <a:spcAft>
                <a:spcPts val="600"/>
              </a:spcAft>
            </a:pPr>
            <a:r>
              <a:rPr b="1">
                <a:solidFill>
                  <a:srgbClr val="E85A00"/>
                </a:solidFill>
              </a:rPr>
              <a:t>•  </a:t>
            </a:r>
            <a:r>
              <a:rPr sz="1300">
                <a:solidFill>
                  <a:srgbClr val="1F2937"/>
                </a:solidFill>
                <a:latin typeface="맑은 고딕"/>
              </a:rPr>
              <a:t>기존 자산 재활용 — 후속 과제 재개발 비용 Zero</a:t>
            </a:r>
          </a:p>
        </p:txBody>
      </p:sp>
      <p:sp>
        <p:nvSpPr>
          <p:cNvPr id="15" name="Rectangle 14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12 / 45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시스템 구성도 / 기술 스택 / To-Be 화면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시스템 구성도 / 기술 스택 / To-Be 화면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단계별 구축 방법론 / 프로세스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단계별 구축 방법론 / 프로세스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WBS / 일정 / 리스크 관리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5대 마일스톤 · 3레벨 WBS · 리스크 매트릭스 기반 납기 100% 전략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16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마스터 스케줄 — 5대 마일스톤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883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마일스톤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명칭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핵심 산출물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완료 기준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착수 및 현황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착수보고서, 현황분석 보고서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발주처 착수보고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요구사항 확정 및 설계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요구사항 정의서, 설계서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설계 검토 회의 확인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핵심 기능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모듈별 단위테스트 결과서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내부 QA 1차 통과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통합시험 및 성능검증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통합·성능시험 결과서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발주처 중간 검수 승인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최종 납품 및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최종 보고서, 소스코드, 매뉴얼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발주처 최종 검수 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16 / 45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17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WBS 3레벨 구조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44196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1레벨 (사업단계)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2레벨 (작업군)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3레벨 (세부 작업)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 착수 및 분석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1.1 사업 착수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착수보고서 작성·제출 / PM·인력 확정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1.2 현황 분석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현황·프로토콜·법제도 분석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 요구사항 및 설계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2.1 요구사항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기능·비기능 요구사항 도출, 발주처 서명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2.2 시스템 설계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아키텍처(AWS)·DB(PostgreSQL)·API(Node.js)·UI(React)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 개발 및 구현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3.1 백엔드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데이터 수집·전송 모듈, REST API, 분석 모듈(Python)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3.2 프론트엔드 개발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모니터링 대시보드(React/Next.js)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3.3 인프라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AWS 환경 구성, CI/CD 파이프라인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 시험 및 검증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4.1 단위·통합시험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단위·통합·성능·부하 테스트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4.2 보안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취약점 점검 및 조치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5. 납품 및 완료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5.1 산출물 정리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소스코드 이관, 운영 매뉴얼 작성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41960"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5.2 최종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최종 결과보고서, 발주처 검수 대응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17 / 45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18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Gantt 차트 — 월별 수행 계획 (6개월 기준)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407963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작업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M1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M2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M3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M4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M5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M6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1.1 착수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1.2 현황 분석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2.1 요구사항 정의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2.2 시스템 설계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3.1 백엔드 개발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3.2 프론트엔드 개발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3.3 인프라 구성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4.1 단위·통합시험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4.2 보안 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5.1 산출물 정리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407963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5.2 최종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0796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▶ 마일스톤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M1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M3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18 / 45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19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리스크 매트릭스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19794"/>
                <a:gridCol w="1619794"/>
                <a:gridCol w="1619794"/>
                <a:gridCol w="1619794"/>
                <a:gridCol w="1619794"/>
                <a:gridCol w="1619794"/>
                <a:gridCol w="1619796"/>
              </a:tblGrid>
              <a:tr h="75764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#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리스크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가능성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영향도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사전 대응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발생 시 대응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디바이스·프로토콜 연동 규격 변경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착수 직후 규격 동결 합의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영향 분석 → Fast Tracking 적용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실시간 데이터 전송 성능 미달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High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M4 조기 부하테스트, 기준치 명문화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병목 튜닝, AWS Scale-out 적용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핵심 인력 이탈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Medium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백업 인력 사전 지정, 문서화 상시 유지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백업 인력 즉시 투입, 발주처 선제 보고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R4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요구사항 추가·변경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Medium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M2 요구사항 확인서 발주처 서명 취득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영향도 분석 후 일정·예산 조정 협의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AWS 클라우드 장애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Low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Multi-AZ 구성, 정기 백업 정책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대체 AZ 절체, 원인 분석 후 재발 방지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R6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납품 직전 보안 취약점 발견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L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H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Medium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납품 4주 전 취약점 점검 조기 수행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긴급 패치 후 재점검 결과서 제출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19 / 45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일정 단축 옵션 — Crashing / Fast Tracking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【Crashing】 적용 구간: 백엔드·프론트엔드 개발 단계 / 팀 내 유휴 인력 재배치로 최대 2~3주 단축 / 커뮤니케이션 비용 증가를 주간 점검 강화로 상쇄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【Fast Tracking】 적용 구간: 설계 후반부 + 개발 초반부 중첩 수행 / 최대 2주 단축 / 적용 범위를 요구사항 확정 모듈로 한정하여 재작업 리스크 통제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【병행 원칙】 두 기법 동시 적용 시 PM 진척 점검을 주 1회 → 일 단위로 전환, 리스크 상시 모니터링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【우선순위】 미확정 모듈은 Fast Tracking 적용 금지, Crashing 우선 적용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20 / 45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21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발주처 검수 ↔ 내부 QA 일정 정렬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17678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검수 구분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내부 QA 완료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발주처 검수 요청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검수 완료 목표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포함 산출물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중간 검수 (M4)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M4월 2주차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M4월 4주차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M5월 1주차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통합·성능시험 결과서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76784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최종 검수 (M5)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M6월 1주차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M6월 2주차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M6월 4주차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보안점검 결과서·매뉴얼·소스코드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21 / 45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PM 종합 관리 원칙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주 1회 정기 진척 보고서를 한국생산기술연구원에 제출하여 투명한 사업 관리 실현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마일스톤 전환 시마다 발주처 서명 산출물 취득 → 완전한 감사 추적(Audit Trail) 유지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내부 QA → 내부 승인 → 발주처 검수 요청의 3단계 게이트 의무화로 납기 100% 목표 달성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리스크 발생 시 48시간 이내 발주처 보고 및 대응 계획 제출을 원칙으로 한다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22 / 45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23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투입 조직 / 핵심 인력 이력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사장님 직접 작성 영역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투입 조직 / 핵심 인력 이력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투입 조직 / 핵심 인력 이력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회사 소개·실적·인력 정보는 영업/HR 담당이 직접 채웁니다.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24 / 45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25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투입 조직 / 핵심 인력 이력 (보충 페이지)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투입 조직 / 핵심 인력 이력 (보충 페이지)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필요 시 1장 더 사용하세요.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25 / 45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회사 소개 / 유사 실적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사장님 직접 작성 영역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27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회사 소개 / 유사 실적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회사 소개 / 유사 실적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회사 소개·실적·인력 정보는 영업/HR 담당이 직접 채웁니다.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27 / 45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28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회사 소개 / 유사 실적 (보충 페이지)</a:t>
            </a:r>
          </a:p>
        </p:txBody>
      </p:sp>
      <p:sp>
        <p:nvSpPr>
          <p:cNvPr id="7" name="Rectangle 6"/>
          <p:cNvSpPr/>
          <p:nvPr/>
        </p:nvSpPr>
        <p:spPr>
          <a:xfrm>
            <a:off x="502920" y="1005840"/>
            <a:ext cx="11183112" cy="5303520"/>
          </a:xfrm>
          <a:prstGeom prst="rect">
            <a:avLst/>
          </a:prstGeom>
          <a:solidFill>
            <a:srgbClr val="FEF3C7"/>
          </a:solidFill>
          <a:ln>
            <a:solidFill>
              <a:srgbClr val="E8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377440"/>
            <a:ext cx="11183112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>
                <a:solidFill>
                  <a:srgbClr val="1F2937"/>
                </a:solidFill>
                <a:latin typeface="맑은 고딕"/>
              </a:rPr>
              <a:t>👤  사람 작성 영역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29184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>
                <a:solidFill>
                  <a:srgbClr val="1F2937"/>
                </a:solidFill>
                <a:latin typeface="맑은 고딕"/>
              </a:rPr>
              <a:t>회사 소개 / 유사 실적 (보충 페이지)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023360"/>
            <a:ext cx="11183112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4B5563"/>
                </a:solidFill>
                <a:latin typeface="맑은 고딕"/>
              </a:rPr>
              <a:t>필요 시 1장 더 사용하세요.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28 / 45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29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QA / 보안 / 유지보수 방안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품질보증 · 3계층 보안 통제 · SLA · 장애 대응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단계별 V&amp;V 테스트 체계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10607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목표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도구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통과 기준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단위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모듈 로직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Jest, pytest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커버리지 80%↑, 결함 0건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통합 테스트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API·DB 연동 검증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Postman, pytest-integration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데이터 손실률 0.1% 미만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시스템 테스트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성능·부하 검증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k6, CloudWatch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응답시간 200ms 이하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인수 테스트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RFP 요구사항 충족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체크리스트·현장 시연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기능 항목 100% 검증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30 / 45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코드 품질 관리 3중 체계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정적분석: ESLint(JS/TS) + pylint(Python) — CI 파이프라인 자동 차단, Critical 오류 1건 이상 시 빌드 실패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코드리뷰: 모든 PR 동료 1인 이상 Approve 필수 — 가독성·보안·성능 3축 체크리스트 사용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커버리지 목표: 전체 80% 이상, 데이터 전송 핵심 모듈 90% 이상 — 매 스프린트 종료 시 발주기관 공유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31 / 45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보안 통제 — 행정·물리·기술 3계층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79520"/>
                <a:gridCol w="3779520"/>
                <a:gridCol w="3779520"/>
              </a:tblGrid>
              <a:tr h="75764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계층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통제 항목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구체 수단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행정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보안 정책·교육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연 2회 교육, 보안서약서, 권한 분기 재검토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행정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접근 권한 관리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RBAC + 최소 권한 원칙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물리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서버·단말 보안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AWS IDC 위임, PC 전체 디스크 암호화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네트워크 보안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AWS WAF, TLS 1.2 이상 강제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인증·인가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JWT + Refresh Token Rotation, API Key 교체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기술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취약점·침입 탐지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OWASP Top 10 점검, GuardDuty 실시간 알림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32 / 45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개인정보·민감정보 보호 방안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가명처리: 위치 식별자 SHA-256 해시 처리 — 분석·통계 목적 데이터 원본 복원 불가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암호화: 저장(AES-256, AWS RDS) + 전송(TLS 1.2↑) 이중 암호화 적용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접근통제: RBAC 기반 담당자 단위 제한, 불필요 계정 즉시 폐기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감사로그: 조회·수정·삭제 전량 기록, 6개월 이상 보존 — AWS S3 Object Lock으로 변조 방지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33 / 45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운영·유지보수 SLA 목표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99.5%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월간 시스템 가용성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CloudWatch 기준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471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30분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장애 최초 응답시간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P1 감지 후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4시간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긴급 장애 RTO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서비스 중단 기준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829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829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1시간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29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데이터 복구목표(RPO)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29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최근 백업 기준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34 / 45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장애 대응 4단계 프로세스</a:t>
            </a:r>
          </a:p>
        </p:txBody>
      </p:sp>
      <p:sp>
        <p:nvSpPr>
          <p:cNvPr id="7" name="Oval 6"/>
          <p:cNvSpPr/>
          <p:nvPr/>
        </p:nvSpPr>
        <p:spPr>
          <a:xfrm>
            <a:off x="1277874" y="1828800"/>
            <a:ext cx="731520" cy="73152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286000"/>
            <a:ext cx="2555748" cy="219456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2743200"/>
            <a:ext cx="22814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감지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291840"/>
            <a:ext cx="21899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AWS CloudWatch 자동 알림 수신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967228" y="3200400"/>
            <a:ext cx="320040" cy="365760"/>
          </a:xfrm>
          <a:prstGeom prst="rightArrow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245102" y="1828800"/>
            <a:ext cx="731520" cy="73152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32988" y="2286000"/>
            <a:ext cx="2555748" cy="219456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470148" y="2743200"/>
            <a:ext cx="22814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분류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15868" y="3291840"/>
            <a:ext cx="21899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심각도 P1~P3 판정 및 담당자 호출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5934456" y="3200400"/>
            <a:ext cx="320040" cy="365760"/>
          </a:xfrm>
          <a:prstGeom prst="rightArrow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212330" y="1828800"/>
            <a:ext cx="731520" cy="73152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0216" y="2286000"/>
            <a:ext cx="2555748" cy="219456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37376" y="2743200"/>
            <a:ext cx="22814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조치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83096" y="3291840"/>
            <a:ext cx="21899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엔지니어 즉시 착수, 발주기관 상황 공유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8901684" y="3200400"/>
            <a:ext cx="320040" cy="365760"/>
          </a:xfrm>
          <a:prstGeom prst="rightArrow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10179558" y="1828800"/>
            <a:ext cx="731520" cy="731520"/>
          </a:xfrm>
          <a:prstGeom prst="ellipse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8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9267444" y="2286000"/>
            <a:ext cx="2555748" cy="2194560"/>
          </a:xfrm>
          <a:prstGeom prst="roundRect">
            <a:avLst/>
          </a:prstGeom>
          <a:solidFill>
            <a:srgbClr val="FEF3C7"/>
          </a:solidFill>
          <a:ln>
            <a:solidFill>
              <a:srgbClr val="1F29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404604" y="2743200"/>
            <a:ext cx="2281428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1F2937"/>
                </a:solidFill>
                <a:latin typeface="맑은 고딕"/>
              </a:rPr>
              <a:t>종료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450324" y="3291840"/>
            <a:ext cx="2189988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1F2937"/>
                </a:solidFill>
                <a:latin typeface="맑은 고딕"/>
              </a:rPr>
              <a:t>복구 확인 후 재발 방지 대책 보고서 제출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35 / 45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크림하우스 기술 신뢰 근거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16명 풀스택 전문가 — React·Next.js·Node.js·Python·AWS·PostgreSQL 전 주기 역량 보유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AWS 기반 고가용성·자동 확장 인프라 운영 경험 — 모니터링 정보 전송 시스템에 직접 적용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Python 데이터 파이프라인 역량 — 개인 모빌리티 센서 데이터 실시간 처리·저장·분석 적합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납품 이후 지속 유지보수 보장 — 고객중심 창의적 해법으로 한국생산기술연구원 연구 성과 극대화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36 / 45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108960"/>
            <a:ext cx="1097280" cy="109728"/>
          </a:xfrm>
          <a:prstGeom prst="rect">
            <a:avLst/>
          </a:prstGeom>
          <a:solidFill>
            <a:srgbClr val="F5B7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280160" y="246888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5B74D"/>
                </a:solidFill>
                <a:latin typeface="맑은 고딕"/>
              </a:rPr>
              <a:t>PART  37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80160" y="3017520"/>
            <a:ext cx="10058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맑은 고딕"/>
              </a:rPr>
              <a:t>가격 산정 / 계약 조건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80160" y="42976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EF3C7"/>
                </a:solidFill>
                <a:latin typeface="맑은 고딕"/>
              </a:rPr>
              <a:t>투입공수 기반 투명 산정 — 예산 100% 합리 편성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산정 방법 및 기본 전제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산정 방식: 투입공수(M/M) 기반 — 단기·명확 범위 사업에 최적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준용 기준: 과기정통부 SW사업 대가산정 가이드 2023, 엔지니어링 노임단가 2024 상반기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사업 기간: 5개월 가정 / 총 투입 인력: PM·SE·개발·품질 5개 Role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내재화 스택(React·Node.js·AWS 등) 활용 → 외주 마진·라이선스 비용 Zero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발주처 예산 63,860,000원 = 제안 금액 (과소·과다 없는 정합 구조)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38 / 45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39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인력 등급별 월 노임단가 (단위: 천원/M/M)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67712"/>
                <a:gridCol w="2267712"/>
                <a:gridCol w="2267712"/>
                <a:gridCol w="2267712"/>
                <a:gridCol w="2267712"/>
              </a:tblGrid>
              <a:tr h="1060704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등급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PM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SE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개발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품질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특급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8,200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7,900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7,600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고급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6,800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6,500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6,200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6,000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중급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4,800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106070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초급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3,900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3,700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3,600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3,500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39 / 45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40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단계별·직무별 투입 M/M 계획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9760"/>
                <a:gridCol w="1889760"/>
                <a:gridCol w="1889760"/>
                <a:gridCol w="1889760"/>
                <a:gridCol w="1889760"/>
                <a:gridCol w="1889760"/>
              </a:tblGrid>
              <a:tr h="883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단계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PM(고급)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SE(고급)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개발(중급)×2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품질(중급)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소계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요구분석·설계 (1M)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개발·구현 (2M)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5.5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통합시험·검증 (1M)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이행·안정화 (1M)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0.5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0.3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2.1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1.8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7.0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13.2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40 / 45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41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총사업비 구성 (단위: 천원)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757645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항목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산정 기준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금액(천원)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직접인건비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M/M × 등급 단가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46,920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73.5%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직접경비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출장·테스트환경 등 실비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2,800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4.4%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간접비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직접인건비의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4,692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7.3%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이윤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(인건비+간접비)의 12%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6,322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9.9%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75764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부가세(VAT)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과세표준의 10%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3,126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75765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총사업비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63,860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41 / 45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42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예산 대비 합리성 — 핵심 수치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0292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100%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예산 대비 제안 금액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과소·과다 없는 정합 편성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471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9471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12%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471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이윤율 (가이드 상한 25%)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471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발주처 비용 절감 기여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8650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8650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Zero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8650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라이선스·외주 비용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8650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오픈소스·자체팀 내재화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78290" y="1463040"/>
            <a:ext cx="2663190" cy="3840480"/>
          </a:xfrm>
          <a:prstGeom prst="round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178290" y="2103120"/>
            <a:ext cx="266319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1F2937"/>
                </a:solidFill>
                <a:latin typeface="맑은 고딕"/>
              </a:rPr>
              <a:t>6개월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178290" y="365760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1F2937"/>
                </a:solidFill>
                <a:latin typeface="맑은 고딕"/>
              </a:rPr>
              <a:t>하자보수 보증 기간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78290" y="4297680"/>
            <a:ext cx="266319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B5563"/>
                </a:solidFill>
                <a:latin typeface="맑은 고딕"/>
              </a:rPr>
              <a:t>Critical 4시간 이내 조치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42 / 45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43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단계별 대금 지급 계획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02920" y="960120"/>
          <a:ext cx="11338560" cy="5303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34640"/>
                <a:gridCol w="2834640"/>
                <a:gridCol w="2834640"/>
                <a:gridCol w="2834640"/>
              </a:tblGrid>
              <a:tr h="88392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지급 시점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지급 조건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비율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FFFFFF"/>
                          </a:solidFill>
                          <a:latin typeface="맑은 고딕"/>
                        </a:rPr>
                        <a:t>금액(천원)</a:t>
                      </a:r>
                    </a:p>
                  </a:txBody>
                  <a:tcPr>
                    <a:solidFill>
                      <a:srgbClr val="1F293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착수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착수계 제출·승인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12,772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설계 완료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설계서 검수 완료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12,772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개발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기능 시험 검수 완료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40%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25,544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최종 납품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최종 산출물 납품·검수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20%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12,772</a:t>
                      </a:r>
                    </a:p>
                  </a:txBody>
                  <a:tcPr>
                    <a:solidFill>
                      <a:srgbClr val="FEF3C7"/>
                    </a:solidFill>
                  </a:tcPr>
                </a:tc>
              </a:tr>
              <a:tr h="8839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합계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100%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1F2937"/>
                          </a:solidFill>
                          <a:latin typeface="맑은 고딕"/>
                        </a:rPr>
                        <a:t>63,860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43 / 45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E8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01168" y="0"/>
            <a:ext cx="11987784" cy="685800"/>
          </a:xfrm>
          <a:prstGeom prst="rect">
            <a:avLst/>
          </a:prstGeom>
          <a:solidFill>
            <a:srgbClr val="FEF3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"/>
            <a:ext cx="640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5A00"/>
                </a:solidFill>
                <a:latin typeface="맑은 고딕"/>
              </a:rPr>
              <a:t>44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828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F2937"/>
                </a:solidFill>
                <a:latin typeface="맑은 고딕"/>
              </a:rPr>
              <a:t>계약 조건 합리성 — 변경관리·정산·하자보수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960120"/>
            <a:ext cx="1133856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[변경관리] 서면요청 → 영향도 분석 → 쌍방합의 → 계약변경 4단계 / 누적 10% 초과 시 별도 계약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[정산] 직접경비 실비 정산 원칙 / 미집행 잔액 발주처 반환 / 인건비 ±10% 범위 내 조정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[하자보수] 최종 검수 후 6개월 / Critical 4h·Major 1영업일·Minor 5영업일 분류 대응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[지식재산권] 대금 완납 시 결과물 한국생산기술연구원 귀속 / 기존 공통 라이브러리는 착수 시 목록화 제외</a:t>
            </a:r>
          </a:p>
          <a:p>
            <a:pPr>
              <a:spcAft>
                <a:spcPts val="800"/>
              </a:spcAft>
            </a:pPr>
            <a:r>
              <a:rPr sz="1400" b="1">
                <a:solidFill>
                  <a:srgbClr val="F5B74D"/>
                </a:solidFill>
              </a:rPr>
              <a:t>▪  </a:t>
            </a:r>
            <a:r>
              <a:rPr sz="1400">
                <a:solidFill>
                  <a:srgbClr val="1F2937"/>
                </a:solidFill>
                <a:latin typeface="맑은 고딕"/>
              </a:rPr>
              <a:t>[소통 체계] Slack·이메일·전화 다채널 접수 / 크림하우스 16인 상시 운영으로 하자보수 전담 가능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5760" y="6601968"/>
            <a:ext cx="9144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FFFFFF"/>
                </a:solidFill>
                <a:latin typeface="맑은 고딕"/>
              </a:rPr>
              <a:t>크림하우스 주식회사  |  (3차)개인 모빌리티 장치 모니터링 정보 전송 기술 고도화  |  한국생산기술연구원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0232" y="6601968"/>
            <a:ext cx="9144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FFFFFF"/>
                </a:solidFill>
                <a:latin typeface="맑은 고딕"/>
              </a:rPr>
              <a:t>44 / 45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29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377440"/>
            <a:ext cx="11247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맑은 고딕"/>
              </a:rPr>
              <a:t>감사합니다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8404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FEF3C7"/>
                </a:solidFill>
                <a:latin typeface="맑은 고딕"/>
              </a:rPr>
              <a:t>함께 만들어 가겠습니다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3035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EF3C7"/>
                </a:solidFill>
                <a:latin typeface="맑은 고딕"/>
              </a:rPr>
              <a:t>크림하우스 주식회사  |  대표 최우진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