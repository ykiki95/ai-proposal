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1] 사업 추진 배경 – 정책 및 환경 변화</a:t>
            </a:r>
          </a:p>
          <a:p>
            <a:r>
              <a:t>RFP 매핑: Ⅰ. 사업개요 1. 사업 추진 배경</a:t>
            </a:r>
          </a:p>
          <a:p>
            <a:r>
              <a:t>시각요소 종류: diagram</a:t>
            </a:r>
          </a:p>
          <a:p/>
          <a:p>
            <a:r>
              <a:t>■ 핵심 메시지</a:t>
            </a:r>
          </a:p>
          <a:p>
            <a:r>
              <a:t>국정과제 98번 '여성의 안전과 건강권 보장' 및 딥페이크 성범죄 대응 정책에 따라, 중앙-지역 디성센터 원스톱 지원체계 구축이 시급하다.</a:t>
            </a:r>
          </a:p>
          <a:p/>
          <a:p>
            <a:r>
              <a:t>■ 레이아웃 안내</a:t>
            </a:r>
          </a:p>
          <a:p>
            <a:r>
              <a:t>상단: 정책 배경 타임라인 / 중단: 지역디성 확대 현황 그래프 / 하단: 3대 환경 변화 카드</a:t>
            </a:r>
          </a:p>
          <a:p/>
          <a:p>
            <a:r>
              <a:t>■ 시각요소 상세</a:t>
            </a:r>
          </a:p>
          <a:p>
            <a:r>
              <a:t>타임라인: 2019→2024 시스템 구축 이력 + 2024.11 딥페이크 대응 정책 강조 / 그래프: 지역디성 7→17개소 증가 추세 / 카드: 대내환경·지역확대·대외환경</a:t>
            </a:r>
          </a:p>
          <a:p/>
          <a:p>
            <a:r>
              <a:t>■ 최종 PT 작성 프롬프트</a:t>
            </a:r>
          </a:p>
          <a:p>
            <a:r>
              <a:t>본문 1.1 정책적 배경 표 1-1과 1.1.2 지역디성 확대 현황 그림 1-1을 결합. 국정과제·정책명·확대 개소수·딥페이크 합동정책 키워드만 추출. 수치 변조 금지.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2] 현행 시스템 분석 – 중앙디성 vs 지역디성 격차</a:t>
            </a:r>
          </a:p>
          <a:p>
            <a:r>
              <a:t>RFP 매핑: Ⅰ. 사업개요 1.2. 현행 시스템 분석 (As-Is)</a:t>
            </a:r>
          </a:p>
          <a:p>
            <a:r>
              <a:t>시각요소 종류: table</a:t>
            </a:r>
          </a:p>
          <a:p/>
          <a:p>
            <a:r>
              <a:t>■ 핵심 메시지</a:t>
            </a:r>
          </a:p>
          <a:p>
            <a:r>
              <a:t>중앙디성은 310개 사이트 크롤링·영상DNA 검색 등 고도화 완료, 지역디성은 수작업 중심으로 업무 편차 발생. 설치형 시스템 공급이 핵심 해결책이다.</a:t>
            </a:r>
          </a:p>
          <a:p/>
          <a:p>
            <a:r>
              <a:t>■ 레이아웃 안내</a:t>
            </a:r>
          </a:p>
          <a:p>
            <a:r>
              <a:t>좌측 50%: 중앙디성 구축 이력 테이블 / 우측 50%: 지역디성 문제점 3개 박스</a:t>
            </a:r>
          </a:p>
          <a:p/>
          <a:p>
            <a:r>
              <a:t>■ 시각요소 상세</a:t>
            </a:r>
          </a:p>
          <a:p>
            <a:r>
              <a:t>표: 2019~2024 연도별 고도화 내용 + 크롤링 사이트 수 / 박스: '시스템 미보급', '업무 표준 부재', '데이터 격리 불가' 강조</a:t>
            </a:r>
          </a:p>
          <a:p/>
          <a:p>
            <a:r>
              <a:t>■ 최종 PT 작성 프롬프트</a:t>
            </a:r>
          </a:p>
          <a:p>
            <a:r>
              <a:t>본문 표 1-2 중앙디성 구축 이력 전체 행 표시. 지역디성 문제점은 본문 1.2.2에서 3개 키워드만 추출. 표 형식 유지.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3] 사업 목적 및 범위</a:t>
            </a:r>
          </a:p>
          <a:p>
            <a:r>
              <a:t>RFP 매핑: Ⅰ. 사업개요 2. 추진목적 / 3. 사업범위</a:t>
            </a:r>
          </a:p>
          <a:p>
            <a:r>
              <a:t>시각요소 종류: diagram</a:t>
            </a:r>
          </a:p>
          <a:p/>
          <a:p>
            <a:r>
              <a:t>■ 핵심 메시지</a:t>
            </a:r>
          </a:p>
          <a:p>
            <a:r>
              <a:t>지역 디성센터 현장 환경을 고려한 설치형 삭제지원시스템 개발 → 17개 지역 독립 운영 + 중앙 관리 체계 구축.</a:t>
            </a:r>
          </a:p>
          <a:p/>
          <a:p>
            <a:r>
              <a:t>■ 레이아웃 안내</a:t>
            </a:r>
          </a:p>
          <a:p>
            <a:r>
              <a:t>상단: 3대 목적 아이콘 / 중단: 사업 범위 6대 기능 육각형 다이어그램 / 하단: 산출물 요약</a:t>
            </a:r>
          </a:p>
          <a:p/>
          <a:p>
            <a:r>
              <a:t>■ 시각요소 상세</a:t>
            </a:r>
          </a:p>
          <a:p>
            <a:r>
              <a:t>아이콘: 설치형 개발·업무 표준화·독립 운영 / 육각형: 설치형SW·보안·통합관리·채증자동화·AI분석·메신저통계 / 하단: 기능점수 399.4FP 표시</a:t>
            </a:r>
          </a:p>
          <a:p/>
          <a:p>
            <a:r>
              <a:t>■ 최종 PT 작성 프롬프트</a:t>
            </a:r>
          </a:p>
          <a:p>
            <a:r>
              <a:t>본문 2. 추진목적 3개 문단 각 1줄 요약. 3. 사업범위 6개 기능 키워드만 추출. 399.4FP는 RFP에서 그대로 인용.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4] 제안 방향 – 핵심 설계 철학</a:t>
            </a:r>
          </a:p>
          <a:p>
            <a:r>
              <a:t>RFP 매핑: Ⅱ. 제안내용 1.1. 아키텍처 설계 방향</a:t>
            </a:r>
          </a:p>
          <a:p>
            <a:r>
              <a:t>시각요소 종류: diagram</a:t>
            </a:r>
          </a:p>
          <a:p/>
          <a:p>
            <a:r>
              <a:t>■ 핵심 메시지</a:t>
            </a:r>
          </a:p>
          <a:p>
            <a:r>
              <a:t>'중앙 주도 표준화와 지역 독립 운영의 양립' – 컨테이너 기반 설치형 아키텍처로 환경 독립성·데이터 분리·3단계 인증 구현.</a:t>
            </a:r>
          </a:p>
          <a:p/>
          <a:p>
            <a:r>
              <a:t>■ 레이아웃 안내</a:t>
            </a:r>
          </a:p>
          <a:p>
            <a:r>
              <a:t>상단: 설계 철학 1줄 / 중단: 5대 설계 원칙 아이콘 카드 / 하단: 기대 효과 3개 박스</a:t>
            </a:r>
          </a:p>
          <a:p/>
          <a:p>
            <a:r>
              <a:t>■ 시각요소 상세</a:t>
            </a:r>
          </a:p>
          <a:p>
            <a:r>
              <a:t>아이콘 카드: 환경독립성·데이터분리·3단계인증·자동업데이트·확장모듈 / 박스: OS 독립성·보안 강화·지자체 확대 대응</a:t>
            </a:r>
          </a:p>
          <a:p/>
          <a:p>
            <a:r>
              <a:t>■ 최종 PT 작성 프롬프트</a:t>
            </a:r>
          </a:p>
          <a:p>
            <a:r>
              <a:t>본문 1.1.1 설계철학 첫 문장 + 1.1.2 5대 원칙 각 제목만 추출. 효과는 원칙별 Why/Effect 1줄씩 요약. 거짓 키워드 금지.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5] 전체 시스템 아키텍처 (서비스 구성도)</a:t>
            </a:r>
          </a:p>
          <a:p>
            <a:r>
              <a:t>RFP 매핑: Ⅱ. 제안내용 1.2. 서비스 아키텍처 다이어그램</a:t>
            </a:r>
          </a:p>
          <a:p>
            <a:r>
              <a:t>시각요소 종류: diagram</a:t>
            </a:r>
          </a:p>
          <a:p/>
          <a:p>
            <a:r>
              <a:t>■ 핵심 메시지</a:t>
            </a:r>
          </a:p>
          <a:p>
            <a:r>
              <a:t>중앙디성 관리 레이어 + 17개 지역디성 독립 레이어 + VPN·인증·데이터 분리 구조를 3계층으로 설계.</a:t>
            </a:r>
          </a:p>
          <a:p/>
          <a:p>
            <a:r>
              <a:t>■ 레이아웃 안내</a:t>
            </a:r>
          </a:p>
          <a:p>
            <a:r>
              <a:t>전체: 3계층 아키텍처 도식 (중앙 / 네트워크 / 지역) + 각 계층 주요 컴포넌트 표시</a:t>
            </a:r>
          </a:p>
          <a:p/>
          <a:p>
            <a:r>
              <a:t>■ 시각요소 상세</a:t>
            </a:r>
          </a:p>
          <a:p>
            <a:r>
              <a:t>도식: 중앙(통합대시보드·메타DB·배포서버) → VPN·방화벽 → 지역(독립DB·애플리케이션·OTP인증) / 화살표로 데이터 흐름 표시 / 색상: 중앙=파랑, 지역=초록, 보안=빨강</a:t>
            </a:r>
          </a:p>
          <a:p/>
          <a:p>
            <a:r>
              <a:t>■ 최종 PT 작성 프롬프트</a:t>
            </a:r>
          </a:p>
          <a:p>
            <a:r>
              <a:t>본문 1.2.1 전체 시스템 구성도 텍스트를 3계층 도형으로 변환. 컴포넌트명은 본문 그대로 인용. 계층 간 화살표에 '암호화·인증·분리' 표기.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6] 기능 아키텍처 – 6대 핵심 모듈</a:t>
            </a:r>
          </a:p>
          <a:p>
            <a:r>
              <a:t>RFP 매핑: Ⅱ. 제안내용 1.2. 기능 모듈 구성</a:t>
            </a:r>
          </a:p>
          <a:p>
            <a:r>
              <a:t>시각요소 종류: diagram</a:t>
            </a:r>
          </a:p>
          <a:p/>
          <a:p>
            <a:r>
              <a:t>■ 핵심 메시지</a:t>
            </a:r>
          </a:p>
          <a:p>
            <a:r>
              <a:t>상담관리·삭제지원·채증자동화·AI분석·메신저·통계관리 6개 모듈을 마이크로서비스로 독립 배포·확장 가능하게 설계.</a:t>
            </a:r>
          </a:p>
          <a:p/>
          <a:p>
            <a:r>
              <a:t>■ 레이아웃 안내</a:t>
            </a:r>
          </a:p>
          <a:p>
            <a:r>
              <a:t>중앙: 6개 모듈 육각형 배치 / 각 모듈에서 RFP 요구사항 번호 연결선 / 하단: 모듈별 주요 기능 요약 테이블</a:t>
            </a:r>
          </a:p>
          <a:p/>
          <a:p>
            <a:r>
              <a:t>■ 시각요소 상세</a:t>
            </a:r>
          </a:p>
          <a:p>
            <a:r>
              <a:t>육각형 중앙에 '지역디성 SW' 배치, 6개 모듈이 방사형으로 연결 / 각 모듈에 FUR-XXX 번호 태그 / 테이블: 모듈명·주요기능·RFP 요구사항 3열</a:t>
            </a:r>
          </a:p>
          <a:p/>
          <a:p>
            <a:r>
              <a:t>■ 최종 PT 작성 프롬프트</a:t>
            </a:r>
          </a:p>
          <a:p>
            <a:r>
              <a:t>본문에서 6대 모듈(상담·삭제·채증·AI·메신저·통계) 키워드 추출. 각 모듈이 충족하는 RFP 요구사항 번호는 본문 FUR-XXX 인용. 테이블은 모듈당 1행.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7] 데이터 아키텍처 – 중앙·지역 분리 구조</a:t>
            </a:r>
          </a:p>
          <a:p>
            <a:r>
              <a:t>RFP 매핑: Ⅱ. 제안내용 1.2. 데이터베이스 설계</a:t>
            </a:r>
          </a:p>
          <a:p>
            <a:r>
              <a:t>시각요소 종류: diagram</a:t>
            </a:r>
          </a:p>
          <a:p/>
          <a:p>
            <a:r>
              <a:t>■ 핵심 메시지</a:t>
            </a:r>
          </a:p>
          <a:p>
            <a:r>
              <a:t>지역디성별 독립 PostgreSQL + 중앙 메타데이터 레이크 구조. 타 지역 데이터 물리 격리, 중앙은 집계 데이터만 조회 가능.</a:t>
            </a:r>
          </a:p>
          <a:p/>
          <a:p>
            <a:r>
              <a:t>■ 레이아웃 안내</a:t>
            </a:r>
          </a:p>
          <a:p>
            <a:r>
              <a:t>좌측: 17개 지역 DB 박스 배열 / 우측: 중앙 메타 DB 박스 / 중앙에서 지역으로 '집계 API' 화살표</a:t>
            </a:r>
          </a:p>
          <a:p/>
          <a:p>
            <a:r>
              <a:t>■ 시각요소 상세</a:t>
            </a:r>
          </a:p>
          <a:p>
            <a:r>
              <a:t>지역 DB 박스: 각각 '지자체명·독립 스키마·접근통제' 표기 / 중앙 메타 DB: '통계·대시보드용·상세 데이터 미포함' 표기 / 화살표에 'Read-Only 집계 API' 명시</a:t>
            </a:r>
          </a:p>
          <a:p/>
          <a:p>
            <a:r>
              <a:t>■ 최종 PT 작성 프롬프트</a:t>
            </a:r>
          </a:p>
          <a:p>
            <a:r>
              <a:t>본문 '원칙 2. 데이터 분리' 단락에서 '지역별 독립 PostgreSQL·중앙 메타데이터 레이크·물리적 격리' 키워드 추출. 도식은 17개 박스 + 1개 중앙 박스 구조.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8] 보안 아키텍처 – 3단계 인증 체계</a:t>
            </a:r>
          </a:p>
          <a:p>
            <a:r>
              <a:t>RFP 매핑: Ⅱ. 제안내용 1.2. 보안 구조 / Ⅶ. 품질 및 보안 관리</a:t>
            </a:r>
          </a:p>
          <a:p>
            <a:r>
              <a:t>시각요소 종류: diagram</a:t>
            </a:r>
          </a:p>
          <a:p/>
          <a:p>
            <a:r>
              <a:t>■ 핵심 메시지</a:t>
            </a:r>
          </a:p>
          <a:p>
            <a:r>
              <a:t>VPN 터널 인증 → MAC/IP 화이트리스트 검증 → OTP 기반 로그인 3단계 인증으로 외부 침입 원천 차단.</a:t>
            </a:r>
          </a:p>
          <a:p/>
          <a:p>
            <a:r>
              <a:t>■ 레이아웃 안내</a:t>
            </a:r>
          </a:p>
          <a:p>
            <a:r>
              <a:t>좌측→우측 3단계 플로우 / 각 단계마다 검증 항목·거부 조건 표시 / 하단: 관련 RFP 요구사항 번호</a:t>
            </a:r>
          </a:p>
          <a:p/>
          <a:p>
            <a:r>
              <a:t>■ 시각요소 상세</a:t>
            </a:r>
          </a:p>
          <a:p>
            <a:r>
              <a:t>플로우: '1단계 VPN(IPsec/SSL)' → '2단계 MAC·IP 검증' → '3단계 OTP+ID/PW' / 각 단계에 '통과' 또는 '차단' 분기 / 하단: FUR-005~008 표기</a:t>
            </a:r>
          </a:p>
          <a:p/>
          <a:p>
            <a:r>
              <a:t>■ 최종 PT 작성 프롬프트</a:t>
            </a:r>
          </a:p>
          <a:p>
            <a:r>
              <a:t>본문 '원칙 3. 3단계 인증' 단락과 표 VII-1 기술 통제 항목 결합. 3단계 순서·검증 내용·RFP 번호만 추출. 플로우 화살표로 표현.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9] 기술 스택 및 개발 환경</a:t>
            </a:r>
          </a:p>
          <a:p>
            <a:r>
              <a:t>RFP 매핑: Ⅱ. 제안내용 1.3. 기술 스택</a:t>
            </a:r>
          </a:p>
          <a:p>
            <a:r>
              <a:t>시각요소 종류: diagram</a:t>
            </a:r>
          </a:p>
          <a:p/>
          <a:p>
            <a:r>
              <a:t>■ 핵심 메시지</a:t>
            </a:r>
          </a:p>
          <a:p>
            <a:r>
              <a:t>Docker 컨테이너·PostgreSQL·Spring Boot·React·Python AI 엔진 조합으로 OS 독립성·확장성·유지보수성 확보.</a:t>
            </a:r>
          </a:p>
          <a:p/>
          <a:p>
            <a:r>
              <a:t>■ 레이아웃 안내</a:t>
            </a:r>
          </a:p>
          <a:p>
            <a:r>
              <a:t>계층형 스택 다이어그램: OS 레이어 → 컨테이너 레이어 → 백엔드·프론트·DB·AI 레이어 / 우측: 기술 선정 근거 테이블</a:t>
            </a:r>
          </a:p>
          <a:p/>
          <a:p>
            <a:r>
              <a:t>■ 시각요소 상세</a:t>
            </a:r>
          </a:p>
          <a:p>
            <a:r>
              <a:t>계층형 박스: 하단 'OS(Win/Linux 혼재)' → 'Docker·Kubernetes' → 'Spring Boot·React·PostgreSQL·Python' / 테이블: 기술명·버전·선정 이유 3열</a:t>
            </a:r>
          </a:p>
          <a:p/>
          <a:p>
            <a:r>
              <a:t>■ 최종 PT 작성 프롬프트</a:t>
            </a:r>
          </a:p>
          <a:p>
            <a:r>
              <a:t>본문에서 Docker·PostgreSQL·Spring Boot·React·Python 키워드 추출. 각 기술의 선정 이유는 '환경 독립성·표준 준수·유지보수' 등 본문 근거 1줄씩 인용. 버전은 본문 명시 시 표기.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10] 핵심 기능 1 – 피해상담·삭제지원 통합 관리</a:t>
            </a:r>
          </a:p>
          <a:p>
            <a:r>
              <a:t>RFP 매핑: Ⅱ. 제안내용 / Ⅲ. 제안요청내용 FUR-001~004</a:t>
            </a:r>
          </a:p>
          <a:p>
            <a:r>
              <a:t>시각요소 종류: screen</a:t>
            </a:r>
          </a:p>
          <a:p/>
          <a:p>
            <a:r>
              <a:t>■ 핵심 메시지</a:t>
            </a:r>
          </a:p>
          <a:p>
            <a:r>
              <a:t>중앙디성 상담·삭제 프로세스 기반 사례 통합 관리, 배정·이력·삭제요청·진행·결과 관리 일원화.</a:t>
            </a:r>
          </a:p>
          <a:p/>
          <a:p>
            <a:r>
              <a:t>■ 레이아웃 안내</a:t>
            </a:r>
          </a:p>
          <a:p>
            <a:r>
              <a:t>상단: 업무 프로세스 플로우 (상담접수→배정→삭제요청→진행→완료) / 하단: 주요 화면 목업 3개 (상담 접수·삭제 배정·진행 현황)</a:t>
            </a:r>
          </a:p>
          <a:p/>
          <a:p>
            <a:r>
              <a:t>■ 시각요소 상세</a:t>
            </a:r>
          </a:p>
          <a:p>
            <a:r>
              <a:t>플로우: 5단계 화살표 + 각 단계별 담당자 역할 표기 / 목업: 상담 접수 폼·삭제 배정 테이블·진행 현황 대시보드 와이어프레임</a:t>
            </a:r>
          </a:p>
          <a:p/>
          <a:p>
            <a:r>
              <a:t>■ 최종 PT 작성 프롬프트</a:t>
            </a:r>
          </a:p>
          <a:p>
            <a:r>
              <a:t>본문 '사업 범위 □ 피해상담·삭제지원 통합 관리 기능' 단락에서 프로세스 5단계 추출. 화면 목업은 '접수·배정·진행' 3개 화면명만 표시. 실제 UI는 디자이너 작업.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11] 핵심 기능 2 – 채증 자동화 및 콘텐츠 관리</a:t>
            </a:r>
          </a:p>
          <a:p>
            <a:r>
              <a:t>RFP 매핑: Ⅱ. 제안내용 / Ⅲ. 제안요청내용 FUR-010~012</a:t>
            </a:r>
          </a:p>
          <a:p>
            <a:r>
              <a:t>시각요소 종류: screen</a:t>
            </a:r>
          </a:p>
          <a:p/>
          <a:p>
            <a:r>
              <a:t>■ 핵심 메시지</a:t>
            </a:r>
          </a:p>
          <a:p>
            <a:r>
              <a:t>URL 기반 자동 채증, 영상 스트리밍 재생, 블러 처리, 해시 관리로 증거 무결성 확보 및 2차 피해 방지.</a:t>
            </a:r>
          </a:p>
          <a:p/>
          <a:p>
            <a:r>
              <a:t>■ 레이아웃 안내</a:t>
            </a:r>
          </a:p>
          <a:p>
            <a:r>
              <a:t>좌측: 채증 프로세스 플로우 / 우측: 채증 화면 목업 (URL 입력→자동 캡처→블러 처리→해시 저장)</a:t>
            </a:r>
          </a:p>
          <a:p/>
          <a:p>
            <a:r>
              <a:t>■ 시각요소 상세</a:t>
            </a:r>
          </a:p>
          <a:p>
            <a:r>
              <a:t>플로우: URL 입력 → 자동 크롤링 → 스크린샷/영상 추출 → 해시 생성 → DB 저장 / 목업: 채증 도구 인터페이스 와이어프레임 (URL 입력창·진행 상태·결과 미리보기)</a:t>
            </a:r>
          </a:p>
          <a:p/>
          <a:p>
            <a:r>
              <a:t>■ 최종 PT 작성 프롬프트</a:t>
            </a:r>
          </a:p>
          <a:p>
            <a:r>
              <a:t>본문 '□ 채증 자동화 및 콘텐츠 관리 기능' 단락에서 '자동 채증·스트리밍·블러·해시' 키워드 추출. 플로우는 4단계로 압축. 화면은 채증 도구 1개만 표시.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12] 핵심 기능 3 – AI 기반 분석 (영상DNA·OCR·STT)</a:t>
            </a:r>
          </a:p>
          <a:p>
            <a:r>
              <a:t>RFP 매핑: Ⅱ. 제안내용 / Ⅲ. 제안요청내용 FUR-013~015</a:t>
            </a:r>
          </a:p>
          <a:p>
            <a:r>
              <a:t>시각요소 종류: screen</a:t>
            </a:r>
          </a:p>
          <a:p/>
          <a:p>
            <a:r>
              <a:t>■ 핵심 메시지</a:t>
            </a:r>
          </a:p>
          <a:p>
            <a:r>
              <a:t>영상 DNA로 동일·유사 영상 자동 식별, 신분증 OCR·진위 확인·자동 마스킹으로 업무 효율 극대화.</a:t>
            </a:r>
          </a:p>
          <a:p/>
          <a:p>
            <a:r>
              <a:t>■ 레이아웃 안내</a:t>
            </a:r>
          </a:p>
          <a:p>
            <a:r>
              <a:t>상단: AI 기능 3개 카드 (영상DNA·OCR·STT) / 하단: 영상DNA 검색 결과 화면 목업</a:t>
            </a:r>
          </a:p>
          <a:p/>
          <a:p>
            <a:r>
              <a:t>■ 시각요소 상세</a:t>
            </a:r>
          </a:p>
          <a:p>
            <a:r>
              <a:t>카드: 각 AI 기능별 아이콘·설명·정확도 표시 / 목업: 영상 업로드 → DNA 해시 추출 → 유사 영상 목록 표시 화면 와이어프레임</a:t>
            </a:r>
          </a:p>
          <a:p/>
          <a:p>
            <a:r>
              <a:t>■ 최종 PT 작성 프롬프트</a:t>
            </a:r>
          </a:p>
          <a:p>
            <a:r>
              <a:t>본문 '□ AI 기반 분석 기능' 단락에서 '영상DNA·OCR·STT' 3개 키워드 추출. 각 기능 설명은 1줄. 화면은 영상DNA 검색 결과 1개만 목업.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13] 핵심 기능 4 – 업무 메신저 및 통계·관리</a:t>
            </a:r>
          </a:p>
          <a:p>
            <a:r>
              <a:t>RFP 매핑: Ⅱ. 제안내용 / Ⅲ. 제안요청내용 FUR-016~021</a:t>
            </a:r>
          </a:p>
          <a:p>
            <a:r>
              <a:t>시각요소 종류: screen</a:t>
            </a:r>
          </a:p>
          <a:p/>
          <a:p>
            <a:r>
              <a:t>■ 핵심 메시지</a:t>
            </a:r>
          </a:p>
          <a:p>
            <a:r>
              <a:t>중앙-지역 디성센터 실시간 업무 메신저, 통계 대시보드, 사용자·권한·플랫폼 관리 기능 제공.</a:t>
            </a:r>
          </a:p>
          <a:p/>
          <a:p>
            <a:r>
              <a:t>■ 레이아웃 안내</a:t>
            </a:r>
          </a:p>
          <a:p>
            <a:r>
              <a:t>좌측: 메신저 화면 목업 / 우측: 통계 대시보드 목업 (상담 건수·삭제 진행률·플랫폼별 분포)</a:t>
            </a:r>
          </a:p>
          <a:p/>
          <a:p>
            <a:r>
              <a:t>■ 시각요소 상세</a:t>
            </a:r>
          </a:p>
          <a:p>
            <a:r>
              <a:t>메신저: 채팅창·사용자 목록·파일 첨부 UI / 대시보드: 카드형 지표 3개 + 차트 2개 (막대·파이) 와이어프레임</a:t>
            </a:r>
          </a:p>
          <a:p/>
          <a:p>
            <a:r>
              <a:t>■ 최종 PT 작성 프롬프트</a:t>
            </a:r>
          </a:p>
          <a:p>
            <a:r>
              <a:t>본문 '□ 업무 메신저 및 통계·관리 기능' 단락에서 '메신저·통계·관리' 키워드 추출. 화면은 메신저와 대시보드 2개만 목업. 차트는 '상담건수·삭제진행률' 표시.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14] 사업 추진 방법론 – 하이브리드 Agile+RUP</a:t>
            </a:r>
          </a:p>
          <a:p>
            <a:r>
              <a:t>RFP 매핑: Ⅲ. 사업 추진 방법론 1.1. 방법론 선정 배경</a:t>
            </a:r>
          </a:p>
          <a:p>
            <a:r>
              <a:t>시각요소 종류: diagram</a:t>
            </a:r>
          </a:p>
          <a:p/>
          <a:p>
            <a:r>
              <a:t>■ 핵심 메시지</a:t>
            </a:r>
          </a:p>
          <a:p>
            <a:r>
              <a:t>점진적 반복 개발(Iterative) + Agile 스프린트 + RUP 게이트 검증을 결합한 하이브리드 방법론으로 일정·품질·변경 대응력 확보.</a:t>
            </a:r>
          </a:p>
          <a:p/>
          <a:p>
            <a:r>
              <a:t>■ 레이아웃 안내</a:t>
            </a:r>
          </a:p>
          <a:p>
            <a:r>
              <a:t>상단: 방법론 선정 근거 3개 박스 (Why Iterative·Agile·RUP) / 하단: 방법론 적용 플로우 다이어그램</a:t>
            </a:r>
          </a:p>
          <a:p/>
          <a:p>
            <a:r>
              <a:t>■ 시각요소 상세</a:t>
            </a:r>
          </a:p>
          <a:p>
            <a:r>
              <a:t>박스: 각 방법론별 '선정 이유·적용 영역·기대 효과' 1줄씩 / 플로우: '착수→분석→설계→개발(2주 스프린트×6)→테스트→이행' + 각 단계마다 '게이트 승인' 표시</a:t>
            </a:r>
          </a:p>
          <a:p/>
          <a:p>
            <a:r>
              <a:t>■ 최종 PT 작성 프롬프트</a:t>
            </a:r>
          </a:p>
          <a:p>
            <a:r>
              <a:t>본문 1.1 방법론 선정 배경에서 Why Iterative·Agile·RUP 3개 문단 각 1줄 요약. 플로우는 6단계 + 게이트 표시만. PMI·CMMI 키워드는 하단 각주로.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15] 6대 마일스톤 및 단계별 산출물</a:t>
            </a:r>
          </a:p>
          <a:p>
            <a:r>
              <a:t>RFP 매핑: Ⅲ. 사업 추진 방법론 1.2. 단계별 추진 절차</a:t>
            </a:r>
          </a:p>
          <a:p>
            <a:r>
              <a:t>시각요소 종류: diagram</a:t>
            </a:r>
          </a:p>
          <a:p/>
          <a:p>
            <a:r>
              <a:t>■ 핵심 메시지</a:t>
            </a:r>
          </a:p>
          <a:p>
            <a:r>
              <a:t>착수(10일)→분석(23일)→설계(15일)→개발(90일)→테스트(30일)→이행(15일) 총 180일, 각 단계 승인 게이트 설정.</a:t>
            </a:r>
          </a:p>
          <a:p/>
          <a:p>
            <a:r>
              <a:t>■ 레이아웃 안내</a:t>
            </a:r>
          </a:p>
          <a:p>
            <a:r>
              <a:t>전체: 6단계 타임라인 + 각 단계별 주요 산출물·검증 방법 표시 / 하단: 테이블로 마일스톤 요약</a:t>
            </a:r>
          </a:p>
          <a:p/>
          <a:p>
            <a:r>
              <a:t>■ 시각요소 상세</a:t>
            </a:r>
          </a:p>
          <a:p>
            <a:r>
              <a:t>타임라인: D+10, D+40, D+90, D+130, D+160, D+180 구간 표시 / 각 구간에 '산출물·검수 형태' 아이콘 / 테이블: 마일스톤·기간·산출물·검수 4열</a:t>
            </a:r>
          </a:p>
          <a:p/>
          <a:p>
            <a:r>
              <a:t>■ 최종 PT 작성 프롬프트</a:t>
            </a:r>
          </a:p>
          <a:p>
            <a:r>
              <a:t>본문 표 1-1 단계별 추진 절차 요약 전체 행 표시. 타임라인은 종료일(D+X) 기준으로 6개 마일스톤 배치. 테이블은 6행 전부 표시.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16] 사업 추진 일정 – 마스터 스케줄</a:t>
            </a:r>
          </a:p>
          <a:p>
            <a:r>
              <a:t>RFP 매핑: Ⅳ. 사업 추진 일정 2. 마스터 스케줄</a:t>
            </a:r>
          </a:p>
          <a:p>
            <a:r>
              <a:t>시각요소 종류: chart</a:t>
            </a:r>
          </a:p>
          <a:p/>
          <a:p>
            <a:r>
              <a:t>■ 핵심 메시지</a:t>
            </a:r>
          </a:p>
          <a:p>
            <a:r>
              <a:t>180일 일정을 6대 마일스톤으로 분할, 각 마일스톤마다 발주기관 검수 또는 내부 QA 게이트 통과 필수.</a:t>
            </a:r>
          </a:p>
          <a:p/>
          <a:p>
            <a:r>
              <a:t>■ 레이아웃 안내</a:t>
            </a:r>
          </a:p>
          <a:p>
            <a:r>
              <a:t>전체: 간트 차트 형태 타임라인 / 6개 마일스톤 막대 + 각 막대 내 주요 활동 표시 / 우측: 마일스톤 관리 규칙 박스</a:t>
            </a:r>
          </a:p>
          <a:p/>
          <a:p>
            <a:r>
              <a:t>■ 시각요소 상세</a:t>
            </a:r>
          </a:p>
          <a:p>
            <a:r>
              <a:t>간트 차트: M1~M6 막대, 각 막대 위에 '착수·분석·설계·개발·테스트·이행' 라벨 / 종료일에 '검수' 아이콘 / 우측 박스: 사전점검·지연일수 산정 규칙</a:t>
            </a:r>
          </a:p>
          <a:p/>
          <a:p>
            <a:r>
              <a:t>■ 최종 PT 작성 프롬프트</a:t>
            </a:r>
          </a:p>
          <a:p>
            <a:r>
              <a:t>본문 표 4-1 마스터 스케줄 6대 마일스톤 전체 행 표시. 간트 차트는 기간(일) 기준으로 막대 길이 조정. 검수 아이콘은 종료일마다 표시.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17] 상세 WBS (Work Breakdown Structure)</a:t>
            </a:r>
          </a:p>
          <a:p>
            <a:r>
              <a:t>RFP 매핑: Ⅳ. 사업 추진 일정 3. 상세 WBS</a:t>
            </a:r>
          </a:p>
          <a:p>
            <a:r>
              <a:t>시각요소 종류: diagram</a:t>
            </a:r>
          </a:p>
          <a:p/>
          <a:p>
            <a:r>
              <a:t>■ 핵심 메시지</a:t>
            </a:r>
          </a:p>
          <a:p>
            <a:r>
              <a:t>6대 단계를 총 42개 세부 작업(Task)으로 분할, 각 작업마다 담당자·기간·선후행 관계 정의.</a:t>
            </a:r>
          </a:p>
          <a:p/>
          <a:p>
            <a:r>
              <a:t>■ 레이아웃 안내</a:t>
            </a:r>
          </a:p>
          <a:p>
            <a:r>
              <a:t>전체: WBS 트리 구조 다이어그램 / Level 1(6단계) → Level 2(42개 Task) 펼쳐진 형태</a:t>
            </a:r>
          </a:p>
          <a:p/>
          <a:p>
            <a:r>
              <a:t>■ 시각요소 상세</a:t>
            </a:r>
          </a:p>
          <a:p>
            <a:r>
              <a:t>트리: 중앙에 '사업 전체' 노드, 하위에 6개 단계, 각 단계 하위에 Task 나열 / 각 Task에 '담당·기간' 표기 / 색상: 단계별 구분</a:t>
            </a:r>
          </a:p>
          <a:p/>
          <a:p>
            <a:r>
              <a:t>■ 최종 PT 작성 프롬프트</a:t>
            </a:r>
          </a:p>
          <a:p>
            <a:r>
              <a:t>본문에 WBS 3.0 언급 시 42개 Task 키워드만 추출. 트리는 2 Level만 표시(단계→Task). 담당자·기간은 본문 명시 시만 표기. 실제 WBS 표는 별도 산출물.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18] 투입 인력 및 R&amp;R (역할·책임)</a:t>
            </a:r>
          </a:p>
          <a:p>
            <a:r>
              <a:t>RFP 매핑: Ⅴ. 투입 인력 및 조직 구성 (사람 작성 예정)</a:t>
            </a:r>
          </a:p>
          <a:p>
            <a:r>
              <a:t>시각요소 종류: diagram</a:t>
            </a:r>
          </a:p>
          <a:p/>
          <a:p>
            <a:r>
              <a:t>■ 핵심 메시지</a:t>
            </a:r>
          </a:p>
          <a:p>
            <a:r>
              <a:t>(이 슬라이드는 사장님 또는 영업팀이 직접 작성합니다. 본 기획안에서는 조직도 구조와 역할 정의만 제시.)</a:t>
            </a:r>
          </a:p>
          <a:p/>
          <a:p>
            <a:r>
              <a:t>■ 레이아웃 안내</a:t>
            </a:r>
          </a:p>
          <a:p>
            <a:r>
              <a:t>중앙: 프로젝트 조직도 (PM→파트장→팀원) / 우측: 역할별 책임 매트릭스 (RACI)</a:t>
            </a:r>
          </a:p>
          <a:p/>
          <a:p>
            <a:r>
              <a:t>■ 시각요소 상세</a:t>
            </a:r>
          </a:p>
          <a:p>
            <a:r>
              <a:t>조직도: PM 1명, 파트장 3명(개발·인프라·QA), 팀원 박스 / RACI 매트릭스: 역할(행)×작업(열), R·A·C·I 표기</a:t>
            </a:r>
          </a:p>
          <a:p/>
          <a:p>
            <a:r>
              <a:t>■ 최종 PT 작성 프롬프트</a:t>
            </a:r>
          </a:p>
          <a:p>
            <a:r>
              <a:t>본문 Ⅴ장이 '사람 작성 예정'이므로 조직도 틀과 RACI 예시만 표시. 실제 인물명·자격증·경력은 비워둠. '사장님 작성 필요' 워터마크 표기.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19] 투입 인력 – 직무별 등급 및 투입 기간</a:t>
            </a:r>
          </a:p>
          <a:p>
            <a:r>
              <a:t>RFP 매핑: Ⅴ. 투입 인력 및 조직 구성 (사람 작성 예정)</a:t>
            </a:r>
          </a:p>
          <a:p>
            <a:r>
              <a:t>시각요소 종류: table</a:t>
            </a:r>
          </a:p>
          <a:p/>
          <a:p>
            <a:r>
              <a:t>■ 핵심 메시지</a:t>
            </a:r>
          </a:p>
          <a:p>
            <a:r>
              <a:t>(사장님 작성 필요) PM·분석가·개발자·DB·보안·AI·QA 등 직무별 등급(특급·고급·중급)과 투입 M/M 명시.</a:t>
            </a:r>
          </a:p>
          <a:p/>
          <a:p>
            <a:r>
              <a:t>■ 레이아웃 안내</a:t>
            </a:r>
          </a:p>
          <a:p>
            <a:r>
              <a:t>전체: 투입 인력 테이블 (직무·등급·투입 기간·M/M·비고)</a:t>
            </a:r>
          </a:p>
          <a:p/>
          <a:p>
            <a:r>
              <a:t>■ 시각요소 상세</a:t>
            </a:r>
          </a:p>
          <a:p>
            <a:r>
              <a:t>테이블: 직무(PM·BA·개발·DB·보안·AI·QA) / 등급(특급·고급·중급) / 투입 기간(착수~이행) / M/M 합계 / 비고(자격증 등) 6열</a:t>
            </a:r>
          </a:p>
          <a:p/>
          <a:p>
            <a:r>
              <a:t>■ 최종 PT 작성 프롬프트</a:t>
            </a:r>
          </a:p>
          <a:p>
            <a:r>
              <a:t>본문 Ⅴ장이 비어있으므로 테이블 헤더만 표시. 데이터 행은 '(사장님 입력 필요)' 표기. 실제 인물명·M/M·자격증은 비워둠.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20] 회사 소개 및 유사 수행 실적</a:t>
            </a:r>
          </a:p>
          <a:p>
            <a:r>
              <a:t>RFP 매핑: Ⅵ. 회사 소개 및 수행 실적 (사람 작성 예정)</a:t>
            </a:r>
          </a:p>
          <a:p>
            <a:r>
              <a:t>시각요소 종류: diagram</a:t>
            </a:r>
          </a:p>
          <a:p/>
          <a:p>
            <a:r>
              <a:t>■ 핵심 메시지</a:t>
            </a:r>
          </a:p>
          <a:p>
            <a:r>
              <a:t>(사장님 작성 필요) 크림하우스 주요 연혁, 보유 기술, 유사 프로젝트 실적 3건 이상 제시.</a:t>
            </a:r>
          </a:p>
          <a:p/>
          <a:p>
            <a:r>
              <a:t>■ 레이아웃 안내</a:t>
            </a:r>
          </a:p>
          <a:p>
            <a:r>
              <a:t>좌측: 회사 연혁 타임라인 / 우측: 유사 실적 카드 3개 (프로젝트명·발주처·기간·금액)</a:t>
            </a:r>
          </a:p>
          <a:p/>
          <a:p>
            <a:r>
              <a:t>■ 시각요소 상세</a:t>
            </a:r>
          </a:p>
          <a:p>
            <a:r>
              <a:t>타임라인: 회사 설립~현재 주요 이정표 / 카드: 각 프로젝트별 '사업명·고객사·기간·금액·주요 기능' 표기</a:t>
            </a:r>
          </a:p>
          <a:p/>
          <a:p>
            <a:r>
              <a:t>■ 최종 PT 작성 프롬프트</a:t>
            </a:r>
          </a:p>
          <a:p>
            <a:r>
              <a:t>본문 Ⅵ장이 비어있으므로 타임라인 틀과 실적 카드 3개 빈 템플릿만 표시. '회사 정보 입력 필요' 워터마크 표기.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21] 품질 관리 체계 – 3단계 검증</a:t>
            </a:r>
          </a:p>
          <a:p>
            <a:r>
              <a:t>RFP 매핑: Ⅶ. 품질 및 보안 관리 1. 품질 관리 체계</a:t>
            </a:r>
          </a:p>
          <a:p>
            <a:r>
              <a:t>시각요소 종류: diagram</a:t>
            </a:r>
          </a:p>
          <a:p/>
          <a:p>
            <a:r>
              <a:t>■ 핵심 메시지</a:t>
            </a:r>
          </a:p>
          <a:p>
            <a:r>
              <a:t>단위 테스트(Unit) → 통합 테스트(Integration) → 사용자 인수 테스트(UAT) 3단계 검증으로 품질 확보.</a:t>
            </a:r>
          </a:p>
          <a:p/>
          <a:p>
            <a:r>
              <a:t>■ 레이아웃 안내</a:t>
            </a:r>
          </a:p>
          <a:p>
            <a:r>
              <a:t>상단: 3단계 테스트 플로우 / 하단: 각 단계별 테스트 케이스 수·도구·담당자 테이블</a:t>
            </a:r>
          </a:p>
          <a:p/>
          <a:p>
            <a:r>
              <a:t>■ 시각요소 상세</a:t>
            </a:r>
          </a:p>
          <a:p>
            <a:r>
              <a:t>플로우: Unit(개발자) → Integration(QA팀) → UAT(발주처) 화살표 / 테이블: 단계·테스트 케이스 수·도구(JUnit·Selenium 등)·담당 3열</a:t>
            </a:r>
          </a:p>
          <a:p/>
          <a:p>
            <a:r>
              <a:t>■ 최종 PT 작성 프롬프트</a:t>
            </a:r>
          </a:p>
          <a:p>
            <a:r>
              <a:t>본문 Ⅶ장에서 품질 관리 언급 시 '3단계 테스트' 키워드 추출. 테스트 도구는 JUnit·Selenium 등 일반 용어만 표기. 케이스 수는 본문 명시 시만 표기.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22] 보안 관리 체계 – 행정·물리·기술 3계층 통제</a:t>
            </a:r>
          </a:p>
          <a:p>
            <a:r>
              <a:t>RFP 매핑: Ⅶ. 품질 및 보안 관리 1.1~1.2. 보안 통제 체계</a:t>
            </a:r>
          </a:p>
          <a:p>
            <a:r>
              <a:t>시각요소 종류: table</a:t>
            </a:r>
          </a:p>
          <a:p/>
          <a:p>
            <a:r>
              <a:t>■ 핵심 메시지</a:t>
            </a:r>
          </a:p>
          <a:p>
            <a:r>
              <a:t>행정 통제(정책·교육), 물리 통제(출입·매체), 기술 통제(인증·암호화·로그) 3계층으로 개인정보 보호 및 보안 위협 차단.</a:t>
            </a:r>
          </a:p>
          <a:p/>
          <a:p>
            <a:r>
              <a:t>■ 레이아웃 안내</a:t>
            </a:r>
          </a:p>
          <a:p>
            <a:r>
              <a:t>상단: 3계층 보안 통제 도식 / 하단: 표 VIII-1 행정·물리·기술 통제 항목 요약 테이블</a:t>
            </a:r>
          </a:p>
          <a:p/>
          <a:p>
            <a:r>
              <a:t>■ 시각요소 상세</a:t>
            </a:r>
          </a:p>
          <a:p>
            <a:r>
              <a:t>도식: 3계층 동심원(외부=행정, 중간=물리, 내부=기술) / 테이블: 통제 계층·통제 항목·구체 내용·책임 주체 4열, 주요 항목만 5~7행 표시</a:t>
            </a:r>
          </a:p>
          <a:p/>
          <a:p>
            <a:r>
              <a:t>■ 최종 PT 작성 프롬프트</a:t>
            </a:r>
          </a:p>
          <a:p>
            <a:r>
              <a:t>본문 표 VIII-1 행정·물리·기술 통제 항목 전체 표에서 각 계층별 대표 항목 2~3개씩 추출. 테이블은 통제 계층·항목·내용·책임 4열 유지. 전체 행 표시 불가 시 '외 ○건' 표기.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23] 보안 관리 – 접근 통제 및 인증 상세</a:t>
            </a:r>
          </a:p>
          <a:p>
            <a:r>
              <a:t>RFP 매핑: Ⅶ. 품질 및 보안 관리 / RFP FUR-005~008</a:t>
            </a:r>
          </a:p>
          <a:p>
            <a:r>
              <a:t>시각요소 종류: diagram</a:t>
            </a:r>
          </a:p>
          <a:p/>
          <a:p>
            <a:r>
              <a:t>■ 핵심 메시지</a:t>
            </a:r>
          </a:p>
          <a:p>
            <a:r>
              <a:t>다중 인증(ID/PW+OTP), VPN 접속, MAC·IP 화이트리스트, 역할 기반 권한(RBAC), 세션 관리, 접근 로그 기록으로 무단 접근 차단.</a:t>
            </a:r>
          </a:p>
          <a:p/>
          <a:p>
            <a:r>
              <a:t>■ 레이아웃 안내</a:t>
            </a:r>
          </a:p>
          <a:p>
            <a:r>
              <a:t>좌측: 접근 통제 플로우 다이어그램 / 우측: RFP 요구사항 매핑 테이블</a:t>
            </a:r>
          </a:p>
          <a:p/>
          <a:p>
            <a:r>
              <a:t>■ 시각요소 상세</a:t>
            </a:r>
          </a:p>
          <a:p>
            <a:r>
              <a:t>플로우: 사용자 → VPN 인증 → MAC/IP 검증 → OTP+ID/PW 로그인 → 세션 생성 → RBAC 권한 확인 → 접근 허용/거부 / 테이블: RFP 요구사항 번호·통제 항목 2열</a:t>
            </a:r>
          </a:p>
          <a:p/>
          <a:p>
            <a:r>
              <a:t>■ 최종 PT 작성 프롬프트</a:t>
            </a:r>
          </a:p>
          <a:p>
            <a:r>
              <a:t>본문 표 VIII-1 기술 통제 항목 중 '다중 인증·VPN·MAC·RBAC·세션·로그' 키워드 추출. RFP 번호는 FUR-005~008, REQ-021~035 범위 내 매핑. 플로우는 7단계.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24] 보안 관리 – 데이터 암호화 및 마스킹</a:t>
            </a:r>
          </a:p>
          <a:p>
            <a:r>
              <a:t>RFP 매핑: Ⅶ. 품질 및 보안 관리 / RFP REQ-057</a:t>
            </a:r>
          </a:p>
          <a:p>
            <a:r>
              <a:t>시각요소 종류: diagram</a:t>
            </a:r>
          </a:p>
          <a:p/>
          <a:p>
            <a:r>
              <a:t>■ 핵심 메시지</a:t>
            </a:r>
          </a:p>
          <a:p>
            <a:r>
              <a:t>개인정보(주민번호·연락처) DB 저장 시 AES-256 암호화, 조회 시 마스킹 처리, 채증 자료 해시 관리로 무결성 확보.</a:t>
            </a:r>
          </a:p>
          <a:p/>
          <a:p>
            <a:r>
              <a:t>■ 레이아웃 안내</a:t>
            </a:r>
          </a:p>
          <a:p>
            <a:r>
              <a:t>상단: 암호화·마스킹 처리 플로우 / 하단: 암호화 적용 대상 테이블</a:t>
            </a:r>
          </a:p>
          <a:p/>
          <a:p>
            <a:r>
              <a:t>■ 시각요소 상세</a:t>
            </a:r>
          </a:p>
          <a:p>
            <a:r>
              <a:t>플로우: 개인정보 입력 → AES-256 암호화 → DB 저장 → 조회 시 복호화+마스킹 표시 / 테이블: 데이터 항목(주민번호·연락처·주소 등)·암호화 여부·마스킹 형식 3열</a:t>
            </a:r>
          </a:p>
          <a:p/>
          <a:p>
            <a:r>
              <a:t>■ 최종 PT 작성 프롬프트</a:t>
            </a:r>
          </a:p>
          <a:p>
            <a:r>
              <a:t>본문 표 VIII-1 기술 통제 '개인정보 마스킹·암호화' 행 + RFP REQ-057 결합. 플로우는 4단계. 테이블은 개인정보 항목별 암호화·마스킹 여부 표시.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25] 보안 관리 – 로그 및 감사 추적</a:t>
            </a:r>
          </a:p>
          <a:p>
            <a:r>
              <a:t>RFP 매핑: Ⅶ. 품질 및 보안 관리 / RFP REQ-041~044</a:t>
            </a:r>
          </a:p>
          <a:p>
            <a:r>
              <a:t>시각요소 종류: diagram</a:t>
            </a:r>
          </a:p>
          <a:p/>
          <a:p>
            <a:r>
              <a:t>■ 핵심 메시지</a:t>
            </a:r>
          </a:p>
          <a:p>
            <a:r>
              <a:t>시스템 접속·조회·수정·삭제 이력 전체 로그 기록, 180일 보관, 검색·다운로드·무결성 검증 기능 제공.</a:t>
            </a:r>
          </a:p>
          <a:p/>
          <a:p>
            <a:r>
              <a:t>■ 레이아웃 안내</a:t>
            </a:r>
          </a:p>
          <a:p>
            <a:r>
              <a:t>좌측: 로그 수집 및 저장 구조 다이어그램 / 우측: 로그 항목 및 보관 정책 테이블</a:t>
            </a:r>
          </a:p>
          <a:p/>
          <a:p>
            <a:r>
              <a:t>■ 시각요소 상세</a:t>
            </a:r>
          </a:p>
          <a:p>
            <a:r>
              <a:t>다이어그램: 애플리케이션·DB·VPN 각 계층에서 로그 수집 → 중앙 로그 서버 → 180일 보관 → 검색·분석·다운로드 / 테이블: 로그 항목(접속·조회·수정·삭제)·보관 기간·RFP 요구사항 3열</a:t>
            </a:r>
          </a:p>
          <a:p/>
          <a:p>
            <a:r>
              <a:t>■ 최종 PT 작성 프롬프트</a:t>
            </a:r>
          </a:p>
          <a:p>
            <a:r>
              <a:t>본문 표 VIII-1 기술 통제 '접근 이력·감사 로그' 행 + RFP REQ-041~044 결합. 다이어그램은 3계층 로그 수집 구조. 테이블은 로그 항목별 보관 정책 표시.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26] 사업 비용 산정 – 방법론 및 법적 근거</a:t>
            </a:r>
          </a:p>
          <a:p>
            <a:r>
              <a:t>RFP 매핑: Ⅷ. 사업 비용 1. 산정 방법론</a:t>
            </a:r>
          </a:p>
          <a:p>
            <a:r>
              <a:t>시각요소 종류: diagram</a:t>
            </a:r>
          </a:p>
          <a:p/>
          <a:p>
            <a:r>
              <a:t>■ 핵심 메시지</a:t>
            </a:r>
          </a:p>
          <a:p>
            <a:r>
              <a:t>소프트웨어 진흥법 제50조 및 과업심의 확정(399.4FP) 기반, 기능점수 + 투입공수(M/M) 혼합 방식으로 총 490,000,000원(VAT 포함) 산정.</a:t>
            </a:r>
          </a:p>
          <a:p/>
          <a:p>
            <a:r>
              <a:t>■ 레이아웃 안내</a:t>
            </a:r>
          </a:p>
          <a:p>
            <a:r>
              <a:t>상단: 산정 방법론 선택 근거 3개 박스 (Why 혼합형·How 산정·Effect) / 하단: 산정 프로세스 플로우</a:t>
            </a:r>
          </a:p>
          <a:p/>
          <a:p>
            <a:r>
              <a:t>■ 시각요소 상세</a:t>
            </a:r>
          </a:p>
          <a:p>
            <a:r>
              <a:t>박스: 각 Why·How·Effect 1줄씩 / 플로우: FP 기준가 도출 → 투입 M/M 산정 → 직접인건비 계산 → 제경비·기술료 가산 → 총사업비 산출 → FP 기준가 비교 검증</a:t>
            </a:r>
          </a:p>
          <a:p/>
          <a:p>
            <a:r>
              <a:t>■ 최종 PT 작성 프롬프트</a:t>
            </a:r>
          </a:p>
          <a:p>
            <a:r>
              <a:t>본문 1. 사업비 산정 방법론 첫 3개 문단(Why·How·Effect) 각 1줄 요약. 플로우는 6단계. 399.4FP·490,000,000원은 RFP 그대로 인용.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27] 사업 비용 산정 – 직무별 표준단가 및 투입 M/M</a:t>
            </a:r>
          </a:p>
          <a:p>
            <a:r>
              <a:t>RFP 매핑: Ⅷ. 사업 비용 2. 인력 단가 기준</a:t>
            </a:r>
          </a:p>
          <a:p>
            <a:r>
              <a:t>시각요소 종류: table</a:t>
            </a:r>
          </a:p>
          <a:p/>
          <a:p>
            <a:r>
              <a:t>■ 핵심 메시지</a:t>
            </a:r>
          </a:p>
          <a:p>
            <a:r>
              <a:t>SW사업 대가산정 가이드(2024) 준수, 직무·등급별 표준단가 적용, PM·개발·DB·보안·AI·QA 등 총 ○○ M/M 투입.</a:t>
            </a:r>
          </a:p>
          <a:p/>
          <a:p>
            <a:r>
              <a:t>■ 레이아웃 안내</a:t>
            </a:r>
          </a:p>
          <a:p>
            <a:r>
              <a:t>전체: 표 VIII-1 직무별·등급별 월 표준단가 테이블 + 투입 M/M 요약 테이블</a:t>
            </a:r>
          </a:p>
          <a:p/>
          <a:p>
            <a:r>
              <a:t>■ 시각요소 상세</a:t>
            </a:r>
          </a:p>
          <a:p>
            <a:r>
              <a:t>표1: 직무(PM·BA·개발·DB·보안·AI·QA) / 등급(특급·고급·중급·초급) / 월 표준단가(천원) 3열 / 표2: 직무·투입 M/M·금액 3열</a:t>
            </a:r>
          </a:p>
          <a:p/>
          <a:p>
            <a:r>
              <a:t>■ 최종 PT 작성 프롬프트</a:t>
            </a:r>
          </a:p>
          <a:p>
            <a:r>
              <a:t>본문 표 VIII-1 직무별·등급별 표준단가 전체 행 표시. 투입 M/M은 본문 명시 시만 표기, 미명시 시 '산정 중' 표기. 표준단가는 2024년 기준 유지.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28] 사업 비용 산정 – 비용 구성 및 세부 내역</a:t>
            </a:r>
          </a:p>
          <a:p>
            <a:r>
              <a:t>RFP 매핑: Ⅷ. 사업 비용 3. 비용 구성</a:t>
            </a:r>
          </a:p>
          <a:p>
            <a:r>
              <a:t>시각요소 종류: chart</a:t>
            </a:r>
          </a:p>
          <a:p/>
          <a:p>
            <a:r>
              <a:t>■ 핵심 메시지</a:t>
            </a:r>
          </a:p>
          <a:p>
            <a:r>
              <a:t>직접인건비 + 직접경비(출장·교육·교재) + 제경비(간접비) + 기술료(이윤) = 총 490,000,000원(VAT 포함).</a:t>
            </a:r>
          </a:p>
          <a:p/>
          <a:p>
            <a:r>
              <a:t>■ 레이아웃 안내</a:t>
            </a:r>
          </a:p>
          <a:p>
            <a:r>
              <a:t>좌측: 비용 구성 파이 차트 / 우측: 세부 항목별 금액 테이블</a:t>
            </a:r>
          </a:p>
          <a:p/>
          <a:p>
            <a:r>
              <a:t>■ 시각요소 상세</a:t>
            </a:r>
          </a:p>
          <a:p>
            <a:r>
              <a:t>파이 차트: 직접인건비(70%)·직접경비(5%)·제경비(15%)·기술료(10%) 비율 표시 / 테이블: 항목·금액(원)·비율(%) 3열</a:t>
            </a:r>
          </a:p>
          <a:p/>
          <a:p>
            <a:r>
              <a:t>■ 최종 PT 작성 프롬프트</a:t>
            </a:r>
          </a:p>
          <a:p>
            <a:r>
              <a:t>본문에서 직접인건비·직접경비·제경비·기술료 구성 비율 추출. 파이 차트는 4개 항목. 금액은 본문 명시 시만 표기, 총액 490,000,000원은 RFP 인용.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29] 리스크 관리 – 식별 및 대응 전략</a:t>
            </a:r>
          </a:p>
          <a:p>
            <a:r>
              <a:t>RFP 매핑: Ⅲ. 사업 추진 방법론 / Ⅶ. 품질 및 보안 관리</a:t>
            </a:r>
          </a:p>
          <a:p>
            <a:r>
              <a:t>시각요소 종류: table</a:t>
            </a:r>
          </a:p>
          <a:p/>
          <a:p>
            <a:r>
              <a:t>■ 핵심 메시지</a:t>
            </a:r>
          </a:p>
          <a:p>
            <a:r>
              <a:t>일정·기술·보안·변경 관리 4대 리스크 식별, 각 리스크별 예방·완화·대응 계획 수립.</a:t>
            </a:r>
          </a:p>
          <a:p/>
          <a:p>
            <a:r>
              <a:t>■ 레이아웃 안내</a:t>
            </a:r>
          </a:p>
          <a:p>
            <a:r>
              <a:t>전체: 리스크 매트릭스 (발생 가능성 × 영향도) + 주요 리스크 4개 대응 전략 테이블</a:t>
            </a:r>
          </a:p>
          <a:p/>
          <a:p>
            <a:r>
              <a:t>■ 시각요소 상세</a:t>
            </a:r>
          </a:p>
          <a:p>
            <a:r>
              <a:t>매트릭스: 가로축(발생 가능성 낮음~높음), 세로축(영향도 낮음~높음), 4개 리스크 위치 표시 / 테이블: 리스크 항목·발생 가능성·영향도·대응 전략 4열</a:t>
            </a:r>
          </a:p>
          <a:p/>
          <a:p>
            <a:r>
              <a:t>■ 최종 PT 작성 프롬프트</a:t>
            </a:r>
          </a:p>
          <a:p>
            <a:r>
              <a:t>본문에서 리스크 관리 언급 시 '일정·기술·보안·변경' 4개 리스크 키워드 추출. 대응 전략은 본문 근거 1줄씩. 발생 가능성·영향도는 '상/중/하' 표기.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30] 산출물 목록 및 인수인계 계획</a:t>
            </a:r>
          </a:p>
          <a:p>
            <a:r>
              <a:t>RFP 매핑: Ⅲ. 사업 추진 방법론 1.2. 단계별 산출물</a:t>
            </a:r>
          </a:p>
          <a:p>
            <a:r>
              <a:t>시각요소 종류: table</a:t>
            </a:r>
          </a:p>
          <a:p/>
          <a:p>
            <a:r>
              <a:t>■ 핵심 메시지</a:t>
            </a:r>
          </a:p>
          <a:p>
            <a:r>
              <a:t>사업수행계획서·요구사항정의서·설계서·소스코드·테스트결과서·매뉴얼·운영인수인계서 등 총 ○○종 산출물 제출.</a:t>
            </a:r>
          </a:p>
          <a:p/>
          <a:p>
            <a:r>
              <a:t>■ 레이아웃 안내</a:t>
            </a:r>
          </a:p>
          <a:p>
            <a:r>
              <a:t>좌측: 단계별 산출물 트리 / 우측: 주요 산출물 목록 테이블</a:t>
            </a:r>
          </a:p>
          <a:p/>
          <a:p>
            <a:r>
              <a:t>■ 시각요소 상세</a:t>
            </a:r>
          </a:p>
          <a:p>
            <a:r>
              <a:t>트리: 6단계(착수·분석·설계·개발·테스트·이행) 하위에 각 산출물 나열 / 테이블: 산출물명·형식(HWP·PDF·ZIP 등)·제출 시점·RFP 요구사항 4열</a:t>
            </a:r>
          </a:p>
          <a:p/>
          <a:p>
            <a:r>
              <a:t>■ 최종 PT 작성 프롬프트</a:t>
            </a:r>
          </a:p>
          <a:p>
            <a:r>
              <a:t>본문 표 1-1 단계별 주요 산출물 전체 항목 추출. 트리는 2 Level(단계→산출물). 테이블은 산출물명·형식·제출 시점만 표시, 총 건수는 본문 합산.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31] 하자보수 및 유지보수 계획</a:t>
            </a:r>
          </a:p>
          <a:p>
            <a:r>
              <a:t>RFP 매핑: RFP Ⅴ. 제안 안내 사항 / 본문 운영 계획</a:t>
            </a:r>
          </a:p>
          <a:p>
            <a:r>
              <a:t>시각요소 종류: diagram</a:t>
            </a:r>
          </a:p>
          <a:p/>
          <a:p>
            <a:r>
              <a:t>■ 핵심 메시지</a:t>
            </a:r>
          </a:p>
          <a:p>
            <a:r>
              <a:t>하자보수 기간 12개월, 무상 기술지원 및 긴급 장애 대응, 월 1회 정기 점검 실시.</a:t>
            </a:r>
          </a:p>
          <a:p/>
          <a:p>
            <a:r>
              <a:t>■ 레이아웃 안내</a:t>
            </a:r>
          </a:p>
          <a:p>
            <a:r>
              <a:t>상단: 하자보수·유지보수 기간 타임라인 / 하단: 지원 범위 및 대응 시간 테이블</a:t>
            </a:r>
          </a:p>
          <a:p/>
          <a:p>
            <a:r>
              <a:t>■ 시각요소 상세</a:t>
            </a:r>
          </a:p>
          <a:p>
            <a:r>
              <a:t>타임라인: 인수 후 12개월 구간 표시, 월 1회 점검 표시 / 테이블: 지원 항목(기능 오류·장애·기능 개선 요청)·대응 시간·제공 방법 3열</a:t>
            </a:r>
          </a:p>
          <a:p/>
          <a:p>
            <a:r>
              <a:t>■ 최종 PT 작성 프롬프트</a:t>
            </a:r>
          </a:p>
          <a:p>
            <a:r>
              <a:t>본문에서 하자보수 12개월·무상 지원·긴급 대응 키워드 추출. 타임라인은 12개월 구간 + 월 점검 표시. 테이블은 지원 항목별 대응 시간 표시.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32] 사용자 교육 계획</a:t>
            </a:r>
          </a:p>
          <a:p>
            <a:r>
              <a:t>RFP 매핑: Ⅲ. 사업 추진 방법론 / RFP 제안요청내용</a:t>
            </a:r>
          </a:p>
          <a:p>
            <a:r>
              <a:t>시각요소 종류: table</a:t>
            </a:r>
          </a:p>
          <a:p/>
          <a:p>
            <a:r>
              <a:t>■ 핵심 메시지</a:t>
            </a:r>
          </a:p>
          <a:p>
            <a:r>
              <a:t>시스템 이행 전 중앙디성·17개 지역디성 대상 사용자 교육 실시, 매뉴얼·동영상 교육 자료 제공.</a:t>
            </a:r>
          </a:p>
          <a:p/>
          <a:p>
            <a:r>
              <a:t>■ 레이아웃 안내</a:t>
            </a:r>
          </a:p>
          <a:p>
            <a:r>
              <a:t>상단: 교육 일정 및 대상 테이블 / 하단: 교육 커리큘럼 목록</a:t>
            </a:r>
          </a:p>
          <a:p/>
          <a:p>
            <a:r>
              <a:t>■ 시각요소 상세</a:t>
            </a:r>
          </a:p>
          <a:p>
            <a:r>
              <a:t>표1: 교육 대상(중앙디성·지역디성)·교육 일정·교육 시간·참석 인원 4열 / 표2: 교육 과정명·내용·시간 3열</a:t>
            </a:r>
          </a:p>
          <a:p/>
          <a:p>
            <a:r>
              <a:t>■ 최종 PT 작성 프롬프트</a:t>
            </a:r>
          </a:p>
          <a:p>
            <a:r>
              <a:t>본문에서 교육 대상 '중앙디성·17개 지역디성' 키워드 추출. 교육 커리큘럼은 '시스템 개요·기능 실습·관리자 기능·Q&amp;A' 등 일반 항목. 일정은 본문 명시 시만 표기.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33] 기대 효과 및 사업 성과 지표</a:t>
            </a:r>
          </a:p>
          <a:p>
            <a:r>
              <a:t>RFP 매핑: RFP Ⅰ. 사업개요 / 본문 제안 방향</a:t>
            </a:r>
          </a:p>
          <a:p>
            <a:r>
              <a:t>시각요소 종류: metric</a:t>
            </a:r>
          </a:p>
          <a:p/>
          <a:p>
            <a:r>
              <a:t>■ 핵심 메시지</a:t>
            </a:r>
          </a:p>
          <a:p>
            <a:r>
              <a:t>지역디성 업무 표준화, 삭제지원 처리 시간 단축, 데이터 보안 강화, 전국 균질 서비스 제공.</a:t>
            </a:r>
          </a:p>
          <a:p/>
          <a:p>
            <a:r>
              <a:t>■ 레이아웃 안내</a:t>
            </a:r>
          </a:p>
          <a:p>
            <a:r>
              <a:t>상단: 4대 기대 효과 아이콘 카드 / 하단: 성과 지표 테이블 (지표명·측정 방법·목표치)</a:t>
            </a:r>
          </a:p>
          <a:p/>
          <a:p>
            <a:r>
              <a:t>■ 시각요소 상세</a:t>
            </a:r>
          </a:p>
          <a:p>
            <a:r>
              <a:t>카드: 업무 표준화·시간 단축·보안 강화·균질 서비스 각 아이콘+1줄 설명 / 테이블: 지표명(처리 시간·보안 사고·사용자 만족도)·측정 방법·목표치 3열</a:t>
            </a:r>
          </a:p>
          <a:p/>
          <a:p>
            <a:r>
              <a:t>■ 최종 PT 작성 프롬프트</a:t>
            </a:r>
          </a:p>
          <a:p>
            <a:r>
              <a:t>본문에서 '표준화·시간 단축·보안·균질' 키워드 추출. 성과 지표는 '처리 시간 ○% 단축·보안 사고 0건·만족도 ○점' 등 일반 표현. 목표치는 본문 명시 시만 표기.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34] 지속 가능성 및 확장 계획</a:t>
            </a:r>
          </a:p>
          <a:p>
            <a:r>
              <a:t>RFP 매핑: 본문 아키텍처 설계 원칙 / 사업 범위</a:t>
            </a:r>
          </a:p>
          <a:p>
            <a:r>
              <a:t>시각요소 종류: diagram</a:t>
            </a:r>
          </a:p>
          <a:p/>
          <a:p>
            <a:r>
              <a:t>■ 핵심 메시지</a:t>
            </a:r>
          </a:p>
          <a:p>
            <a:r>
              <a:t>마이크로서비스 아키텍처로 모듈 독립 확장 가능, 향후 50개 지자체 추가 배포 대응, AI 기능 지속 고도화 가능.</a:t>
            </a:r>
          </a:p>
          <a:p/>
          <a:p>
            <a:r>
              <a:t>■ 레이아웃 안내</a:t>
            </a:r>
          </a:p>
          <a:p>
            <a:r>
              <a:t>상단: 확장 시나리오 3개 박스 (지자체 확대·플랫폼 추가·AI 고도화) / 하단: 확장 로드맵 타임라인</a:t>
            </a:r>
          </a:p>
          <a:p/>
          <a:p>
            <a:r>
              <a:t>■ 시각요소 상세</a:t>
            </a:r>
          </a:p>
          <a:p>
            <a:r>
              <a:t>박스: 각 시나리오별 '현재 상황·확장 계획·기술적 대응' 1줄씩 / 타임라인: 2026→2027→2028 구간, 각 구간에 '지자체 추가·플랫폼 확대·AI 업그레이드' 표시</a:t>
            </a:r>
          </a:p>
          <a:p/>
          <a:p>
            <a:r>
              <a:t>■ 최종 PT 작성 프롬프트</a:t>
            </a:r>
          </a:p>
          <a:p>
            <a:r>
              <a:t>본문 '원칙 5. 확장 가능 모듈 구조'와 사업 범위에서 '50개 지자체·310→400개 플랫폼·AI 고도화' 키워드 추출. 타임라인은 3년 구간 표시.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[페이지 35] 제안 요약 및 차별화 포인트</a:t>
            </a:r>
          </a:p>
          <a:p>
            <a:r>
              <a:t>RFP 매핑: 전체 제안 요약</a:t>
            </a:r>
          </a:p>
          <a:p>
            <a:r>
              <a:t>시각요소 종류: diagram</a:t>
            </a:r>
          </a:p>
          <a:p/>
          <a:p>
            <a:r>
              <a:t>■ 핵심 메시지</a:t>
            </a:r>
          </a:p>
          <a:p>
            <a:r>
              <a:t>크림하우스는 설치형 아키텍처·3단계 보안·AI 분석·마이크로서비스 확장성으로 중앙-지역 디성센터 원스톱 지원체계 구축을 완성합니다.</a:t>
            </a:r>
          </a:p>
          <a:p/>
          <a:p>
            <a:r>
              <a:t>■ 레이아웃 안내</a:t>
            </a:r>
          </a:p>
          <a:p>
            <a:r>
              <a:t>중앙: 5대 차별화 포인트 아이콘 배치 / 하단: 제안 요약 1줄 메시지</a:t>
            </a:r>
          </a:p>
          <a:p/>
          <a:p>
            <a:r>
              <a:t>■ 시각요소 상세</a:t>
            </a:r>
          </a:p>
          <a:p>
            <a:r>
              <a:t>아이콘: 설치형SW·3단계보안·AI분석·독립운영·확장성 각 아이콘+키워드 / 하단: '중앙-지역 협업 체계의 새로운 표준을 제시합니다' 강조 텍스트</a:t>
            </a:r>
          </a:p>
          <a:p/>
          <a:p>
            <a:r>
              <a:t>■ 최종 PT 작성 프롬프트</a:t>
            </a:r>
          </a:p>
          <a:p>
            <a:r>
              <a:t>본문 전체에서 '설치형·보안·AI·독립·확장' 5개 차별화 키워드 추출. 하단 메시지는 제안 핵심 1줄로 압축. 아이콘은 각 키워드당 1개씩 배치.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F58B00"/>
                </a:solidFill>
                <a:latin typeface="맑은 고딕"/>
              </a:rPr>
              <a:t>📋 PROPOSAL STORYBOARD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</a:rPr>
              <a:t>2026년 삭제지원시스템 기능개선 및 SW 개발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E6F0FB"/>
                </a:solidFill>
                <a:latin typeface="맑은 고딕"/>
              </a:rPr>
              <a:t>발주기관 · 한국여성인권진흥원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E6F0FB"/>
                </a:solidFill>
                <a:latin typeface="맑은 고딕"/>
              </a:rPr>
              <a:t>예상 슬라이드 · 35장 / 디자인 검토용 기획안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※ 이 문서는 최종 PT가 아닌 '슬라이드 기획안'입니다. 각 슬라이드의 메시지·레이아웃·시각요소·작성 지시를 검토하시고 게이트2에서 승인해 주세요.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📑 STORYBOARD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S01  </a:t>
            </a:r>
            <a:r>
              <a:rPr sz="1100">
                <a:solidFill>
                  <a:srgbClr val="1F2937"/>
                </a:solidFill>
              </a:rPr>
              <a:t>사업 추진 배경 – 정책 및 환경 변화  </a:t>
            </a:r>
            <a:r>
              <a:rPr sz="900">
                <a:solidFill>
                  <a:srgbClr val="1E6FE6"/>
                </a:solidFill>
              </a:rPr>
              <a:t>  [◇ 도형/플로우]  </a:t>
            </a:r>
            <a:r>
              <a:rPr sz="900">
                <a:solidFill>
                  <a:srgbClr val="4B5563"/>
                </a:solidFill>
              </a:rPr>
              <a:t>  📍Ⅰ. 사업개요 1. 사업 추진 배경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S02  </a:t>
            </a:r>
            <a:r>
              <a:rPr sz="1100">
                <a:solidFill>
                  <a:srgbClr val="1F2937"/>
                </a:solidFill>
              </a:rPr>
              <a:t>현행 시스템 분석 – 중앙디성 vs 지역디성 격차  </a:t>
            </a:r>
            <a:r>
              <a:rPr sz="900">
                <a:solidFill>
                  <a:srgbClr val="1E6FE6"/>
                </a:solidFill>
              </a:rPr>
              <a:t>  [☷ 표]  </a:t>
            </a:r>
            <a:r>
              <a:rPr sz="900">
                <a:solidFill>
                  <a:srgbClr val="4B5563"/>
                </a:solidFill>
              </a:rPr>
              <a:t>  📍Ⅰ. 사업개요 1.2. 현행 시스템 분석 (As-Is)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S03  </a:t>
            </a:r>
            <a:r>
              <a:rPr sz="1100">
                <a:solidFill>
                  <a:srgbClr val="1F2937"/>
                </a:solidFill>
              </a:rPr>
              <a:t>사업 목적 및 범위  </a:t>
            </a:r>
            <a:r>
              <a:rPr sz="900">
                <a:solidFill>
                  <a:srgbClr val="1E6FE6"/>
                </a:solidFill>
              </a:rPr>
              <a:t>  [◇ 도형/플로우]  </a:t>
            </a:r>
            <a:r>
              <a:rPr sz="900">
                <a:solidFill>
                  <a:srgbClr val="4B5563"/>
                </a:solidFill>
              </a:rPr>
              <a:t>  📍Ⅰ. 사업개요 2. 추진목적 / 3. 사업범위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S04  </a:t>
            </a:r>
            <a:r>
              <a:rPr sz="1100">
                <a:solidFill>
                  <a:srgbClr val="1F2937"/>
                </a:solidFill>
              </a:rPr>
              <a:t>제안 방향 – 핵심 설계 철학  </a:t>
            </a:r>
            <a:r>
              <a:rPr sz="900">
                <a:solidFill>
                  <a:srgbClr val="1E6FE6"/>
                </a:solidFill>
              </a:rPr>
              <a:t>  [◇ 도형/플로우]  </a:t>
            </a:r>
            <a:r>
              <a:rPr sz="900">
                <a:solidFill>
                  <a:srgbClr val="4B5563"/>
                </a:solidFill>
              </a:rPr>
              <a:t>  📍Ⅱ. 제안내용 1.1. 아키텍처 설계 방향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S05  </a:t>
            </a:r>
            <a:r>
              <a:rPr sz="1100">
                <a:solidFill>
                  <a:srgbClr val="1F2937"/>
                </a:solidFill>
              </a:rPr>
              <a:t>전체 시스템 아키텍처 (서비스 구성도)  </a:t>
            </a:r>
            <a:r>
              <a:rPr sz="900">
                <a:solidFill>
                  <a:srgbClr val="1E6FE6"/>
                </a:solidFill>
              </a:rPr>
              <a:t>  [◇ 도형/플로우]  </a:t>
            </a:r>
            <a:r>
              <a:rPr sz="900">
                <a:solidFill>
                  <a:srgbClr val="4B5563"/>
                </a:solidFill>
              </a:rPr>
              <a:t>  📍Ⅱ. 제안내용 1.2. 서비스 아키텍처 다이어그램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S06  </a:t>
            </a:r>
            <a:r>
              <a:rPr sz="1100">
                <a:solidFill>
                  <a:srgbClr val="1F2937"/>
                </a:solidFill>
              </a:rPr>
              <a:t>기능 아키텍처 – 6대 핵심 모듈  </a:t>
            </a:r>
            <a:r>
              <a:rPr sz="900">
                <a:solidFill>
                  <a:srgbClr val="1E6FE6"/>
                </a:solidFill>
              </a:rPr>
              <a:t>  [◇ 도형/플로우]  </a:t>
            </a:r>
            <a:r>
              <a:rPr sz="900">
                <a:solidFill>
                  <a:srgbClr val="4B5563"/>
                </a:solidFill>
              </a:rPr>
              <a:t>  📍Ⅱ. 제안내용 1.2. 기능 모듈 구성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S07  </a:t>
            </a:r>
            <a:r>
              <a:rPr sz="1100">
                <a:solidFill>
                  <a:srgbClr val="1F2937"/>
                </a:solidFill>
              </a:rPr>
              <a:t>데이터 아키텍처 – 중앙·지역 분리 구조  </a:t>
            </a:r>
            <a:r>
              <a:rPr sz="900">
                <a:solidFill>
                  <a:srgbClr val="1E6FE6"/>
                </a:solidFill>
              </a:rPr>
              <a:t>  [◇ 도형/플로우]  </a:t>
            </a:r>
            <a:r>
              <a:rPr sz="900">
                <a:solidFill>
                  <a:srgbClr val="4B5563"/>
                </a:solidFill>
              </a:rPr>
              <a:t>  📍Ⅱ. 제안내용 1.2. 데이터베이스 설계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S08  </a:t>
            </a:r>
            <a:r>
              <a:rPr sz="1100">
                <a:solidFill>
                  <a:srgbClr val="1F2937"/>
                </a:solidFill>
              </a:rPr>
              <a:t>보안 아키텍처 – 3단계 인증 체계  </a:t>
            </a:r>
            <a:r>
              <a:rPr sz="900">
                <a:solidFill>
                  <a:srgbClr val="1E6FE6"/>
                </a:solidFill>
              </a:rPr>
              <a:t>  [◇ 도형/플로우]  </a:t>
            </a:r>
            <a:r>
              <a:rPr sz="900">
                <a:solidFill>
                  <a:srgbClr val="4B5563"/>
                </a:solidFill>
              </a:rPr>
              <a:t>  📍Ⅱ. 제안내용 1.2. 보안 구조 / Ⅶ. 품질 및 보안 관리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S09  </a:t>
            </a:r>
            <a:r>
              <a:rPr sz="1100">
                <a:solidFill>
                  <a:srgbClr val="1F2937"/>
                </a:solidFill>
              </a:rPr>
              <a:t>기술 스택 및 개발 환경  </a:t>
            </a:r>
            <a:r>
              <a:rPr sz="900">
                <a:solidFill>
                  <a:srgbClr val="1E6FE6"/>
                </a:solidFill>
              </a:rPr>
              <a:t>  [◇ 도형/플로우]  </a:t>
            </a:r>
            <a:r>
              <a:rPr sz="900">
                <a:solidFill>
                  <a:srgbClr val="4B5563"/>
                </a:solidFill>
              </a:rPr>
              <a:t>  📍Ⅱ. 제안내용 1.3. 기술 스택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S10  </a:t>
            </a:r>
            <a:r>
              <a:rPr sz="1100">
                <a:solidFill>
                  <a:srgbClr val="1F2937"/>
                </a:solidFill>
              </a:rPr>
              <a:t>핵심 기능 1 – 피해상담·삭제지원 통합 관리  </a:t>
            </a:r>
            <a:r>
              <a:rPr sz="900">
                <a:solidFill>
                  <a:srgbClr val="1E6FE6"/>
                </a:solidFill>
              </a:rPr>
              <a:t>  [🖥 예시 화면]  </a:t>
            </a:r>
            <a:r>
              <a:rPr sz="900">
                <a:solidFill>
                  <a:srgbClr val="4B5563"/>
                </a:solidFill>
              </a:rPr>
              <a:t>  📍Ⅱ. 제안내용 / Ⅲ. 제안요청내용 FUR-001~004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S11  </a:t>
            </a:r>
            <a:r>
              <a:rPr sz="1100">
                <a:solidFill>
                  <a:srgbClr val="1F2937"/>
                </a:solidFill>
              </a:rPr>
              <a:t>핵심 기능 2 – 채증 자동화 및 콘텐츠 관리  </a:t>
            </a:r>
            <a:r>
              <a:rPr sz="900">
                <a:solidFill>
                  <a:srgbClr val="1E6FE6"/>
                </a:solidFill>
              </a:rPr>
              <a:t>  [🖥 예시 화면]  </a:t>
            </a:r>
            <a:r>
              <a:rPr sz="900">
                <a:solidFill>
                  <a:srgbClr val="4B5563"/>
                </a:solidFill>
              </a:rPr>
              <a:t>  📍Ⅱ. 제안내용 / Ⅲ. 제안요청내용 FUR-010~012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S12  </a:t>
            </a:r>
            <a:r>
              <a:rPr sz="1100">
                <a:solidFill>
                  <a:srgbClr val="1F2937"/>
                </a:solidFill>
              </a:rPr>
              <a:t>핵심 기능 3 – AI 기반 분석 (영상DNA·OCR·STT)  </a:t>
            </a:r>
            <a:r>
              <a:rPr sz="900">
                <a:solidFill>
                  <a:srgbClr val="1E6FE6"/>
                </a:solidFill>
              </a:rPr>
              <a:t>  [🖥 예시 화면]  </a:t>
            </a:r>
            <a:r>
              <a:rPr sz="900">
                <a:solidFill>
                  <a:srgbClr val="4B5563"/>
                </a:solidFill>
              </a:rPr>
              <a:t>  📍Ⅱ. 제안내용 / Ⅲ. 제안요청내용 FUR-013~015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S13  </a:t>
            </a:r>
            <a:r>
              <a:rPr sz="1100">
                <a:solidFill>
                  <a:srgbClr val="1F2937"/>
                </a:solidFill>
              </a:rPr>
              <a:t>핵심 기능 4 – 업무 메신저 및 통계·관리  </a:t>
            </a:r>
            <a:r>
              <a:rPr sz="900">
                <a:solidFill>
                  <a:srgbClr val="1E6FE6"/>
                </a:solidFill>
              </a:rPr>
              <a:t>  [🖥 예시 화면]  </a:t>
            </a:r>
            <a:r>
              <a:rPr sz="900">
                <a:solidFill>
                  <a:srgbClr val="4B5563"/>
                </a:solidFill>
              </a:rPr>
              <a:t>  📍Ⅱ. 제안내용 / Ⅲ. 제안요청내용 FUR-016~021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S14  </a:t>
            </a:r>
            <a:r>
              <a:rPr sz="1100">
                <a:solidFill>
                  <a:srgbClr val="1F2937"/>
                </a:solidFill>
              </a:rPr>
              <a:t>사업 추진 방법론 – 하이브리드 Agile+RUP  </a:t>
            </a:r>
            <a:r>
              <a:rPr sz="900">
                <a:solidFill>
                  <a:srgbClr val="1E6FE6"/>
                </a:solidFill>
              </a:rPr>
              <a:t>  [◇ 도형/플로우]  </a:t>
            </a:r>
            <a:r>
              <a:rPr sz="900">
                <a:solidFill>
                  <a:srgbClr val="4B5563"/>
                </a:solidFill>
              </a:rPr>
              <a:t>  📍Ⅲ. 사업 추진 방법론 1.1. 방법론 선정 배경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S15  </a:t>
            </a:r>
            <a:r>
              <a:rPr sz="1100">
                <a:solidFill>
                  <a:srgbClr val="1F2937"/>
                </a:solidFill>
              </a:rPr>
              <a:t>6대 마일스톤 및 단계별 산출물  </a:t>
            </a:r>
            <a:r>
              <a:rPr sz="900">
                <a:solidFill>
                  <a:srgbClr val="1E6FE6"/>
                </a:solidFill>
              </a:rPr>
              <a:t>  [◇ 도형/플로우]  </a:t>
            </a:r>
            <a:r>
              <a:rPr sz="900">
                <a:solidFill>
                  <a:srgbClr val="4B5563"/>
                </a:solidFill>
              </a:rPr>
              <a:t>  📍Ⅲ. 사업 추진 방법론 1.2. 단계별 추진 절차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S16  </a:t>
            </a:r>
            <a:r>
              <a:rPr sz="1100">
                <a:solidFill>
                  <a:srgbClr val="1F2937"/>
                </a:solidFill>
              </a:rPr>
              <a:t>사업 추진 일정 – 마스터 스케줄  </a:t>
            </a:r>
            <a:r>
              <a:rPr sz="900">
                <a:solidFill>
                  <a:srgbClr val="1E6FE6"/>
                </a:solidFill>
              </a:rPr>
              <a:t>  [📊 그래프]  </a:t>
            </a:r>
            <a:r>
              <a:rPr sz="900">
                <a:solidFill>
                  <a:srgbClr val="4B5563"/>
                </a:solidFill>
              </a:rPr>
              <a:t>  📍Ⅳ. 사업 추진 일정 2. 마스터 스케줄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S17  </a:t>
            </a:r>
            <a:r>
              <a:rPr sz="1100">
                <a:solidFill>
                  <a:srgbClr val="1F2937"/>
                </a:solidFill>
              </a:rPr>
              <a:t>상세 WBS (Work Breakdown Structure)  </a:t>
            </a:r>
            <a:r>
              <a:rPr sz="900">
                <a:solidFill>
                  <a:srgbClr val="1E6FE6"/>
                </a:solidFill>
              </a:rPr>
              <a:t>  [◇ 도형/플로우]  </a:t>
            </a:r>
            <a:r>
              <a:rPr sz="900">
                <a:solidFill>
                  <a:srgbClr val="4B5563"/>
                </a:solidFill>
              </a:rPr>
              <a:t>  📍Ⅳ. 사업 추진 일정 3. 상세 WBS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S18  </a:t>
            </a:r>
            <a:r>
              <a:rPr sz="1100">
                <a:solidFill>
                  <a:srgbClr val="1F2937"/>
                </a:solidFill>
              </a:rPr>
              <a:t>투입 인력 및 R&amp;R (역할·책임)  </a:t>
            </a:r>
            <a:r>
              <a:rPr sz="900">
                <a:solidFill>
                  <a:srgbClr val="1E6FE6"/>
                </a:solidFill>
              </a:rPr>
              <a:t>  [◇ 도형/플로우]  </a:t>
            </a:r>
            <a:r>
              <a:rPr sz="900">
                <a:solidFill>
                  <a:srgbClr val="4B5563"/>
                </a:solidFill>
              </a:rPr>
              <a:t>  📍Ⅴ. 투입 인력 및 조직 구성 (사람 작성 예정)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S19  </a:t>
            </a:r>
            <a:r>
              <a:rPr sz="1100">
                <a:solidFill>
                  <a:srgbClr val="1F2937"/>
                </a:solidFill>
              </a:rPr>
              <a:t>투입 인력 – 직무별 등급 및 투입 기간  </a:t>
            </a:r>
            <a:r>
              <a:rPr sz="900">
                <a:solidFill>
                  <a:srgbClr val="1E6FE6"/>
                </a:solidFill>
              </a:rPr>
              <a:t>  [☷ 표]  </a:t>
            </a:r>
            <a:r>
              <a:rPr sz="900">
                <a:solidFill>
                  <a:srgbClr val="4B5563"/>
                </a:solidFill>
              </a:rPr>
              <a:t>  📍Ⅴ. 투입 인력 및 조직 구성 (사람 작성 예정)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S20  </a:t>
            </a:r>
            <a:r>
              <a:rPr sz="1100">
                <a:solidFill>
                  <a:srgbClr val="1F2937"/>
                </a:solidFill>
              </a:rPr>
              <a:t>회사 소개 및 유사 수행 실적  </a:t>
            </a:r>
            <a:r>
              <a:rPr sz="900">
                <a:solidFill>
                  <a:srgbClr val="1E6FE6"/>
                </a:solidFill>
              </a:rPr>
              <a:t>  [◇ 도형/플로우]  </a:t>
            </a:r>
            <a:r>
              <a:rPr sz="900">
                <a:solidFill>
                  <a:srgbClr val="4B5563"/>
                </a:solidFill>
              </a:rPr>
              <a:t>  📍Ⅵ. 회사 소개 및 수행 실적 (사람 작성 예정)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S21  </a:t>
            </a:r>
            <a:r>
              <a:rPr sz="1100">
                <a:solidFill>
                  <a:srgbClr val="1F2937"/>
                </a:solidFill>
              </a:rPr>
              <a:t>품질 관리 체계 – 3단계 검증  </a:t>
            </a:r>
            <a:r>
              <a:rPr sz="900">
                <a:solidFill>
                  <a:srgbClr val="1E6FE6"/>
                </a:solidFill>
              </a:rPr>
              <a:t>  [◇ 도형/플로우]  </a:t>
            </a:r>
            <a:r>
              <a:rPr sz="900">
                <a:solidFill>
                  <a:srgbClr val="4B5563"/>
                </a:solidFill>
              </a:rPr>
              <a:t>  📍Ⅶ. 품질 및 보안 관리 1. 품질 관리 체계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S22  </a:t>
            </a:r>
            <a:r>
              <a:rPr sz="1100">
                <a:solidFill>
                  <a:srgbClr val="1F2937"/>
                </a:solidFill>
              </a:rPr>
              <a:t>보안 관리 체계 – 행정·물리·기술 3계층 통제  </a:t>
            </a:r>
            <a:r>
              <a:rPr sz="900">
                <a:solidFill>
                  <a:srgbClr val="1E6FE6"/>
                </a:solidFill>
              </a:rPr>
              <a:t>  [☷ 표]  </a:t>
            </a:r>
            <a:r>
              <a:rPr sz="900">
                <a:solidFill>
                  <a:srgbClr val="4B5563"/>
                </a:solidFill>
              </a:rPr>
              <a:t>  📍Ⅶ. 품질 및 보안 관리 1.1~1.2. 보안 통제 체계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S23  </a:t>
            </a:r>
            <a:r>
              <a:rPr sz="1100">
                <a:solidFill>
                  <a:srgbClr val="1F2937"/>
                </a:solidFill>
              </a:rPr>
              <a:t>보안 관리 – 접근 통제 및 인증 상세  </a:t>
            </a:r>
            <a:r>
              <a:rPr sz="900">
                <a:solidFill>
                  <a:srgbClr val="1E6FE6"/>
                </a:solidFill>
              </a:rPr>
              <a:t>  [◇ 도형/플로우]  </a:t>
            </a:r>
            <a:r>
              <a:rPr sz="900">
                <a:solidFill>
                  <a:srgbClr val="4B5563"/>
                </a:solidFill>
              </a:rPr>
              <a:t>  📍Ⅶ. 품질 및 보안 관리 / RFP FUR-005~008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S24  </a:t>
            </a:r>
            <a:r>
              <a:rPr sz="1100">
                <a:solidFill>
                  <a:srgbClr val="1F2937"/>
                </a:solidFill>
              </a:rPr>
              <a:t>보안 관리 – 데이터 암호화 및 마스킹  </a:t>
            </a:r>
            <a:r>
              <a:rPr sz="900">
                <a:solidFill>
                  <a:srgbClr val="1E6FE6"/>
                </a:solidFill>
              </a:rPr>
              <a:t>  [◇ 도형/플로우]  </a:t>
            </a:r>
            <a:r>
              <a:rPr sz="900">
                <a:solidFill>
                  <a:srgbClr val="4B5563"/>
                </a:solidFill>
              </a:rPr>
              <a:t>  📍Ⅶ. 품질 및 보안 관리 / RFP REQ-057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S25  </a:t>
            </a:r>
            <a:r>
              <a:rPr sz="1100">
                <a:solidFill>
                  <a:srgbClr val="1F2937"/>
                </a:solidFill>
              </a:rPr>
              <a:t>보안 관리 – 로그 및 감사 추적  </a:t>
            </a:r>
            <a:r>
              <a:rPr sz="900">
                <a:solidFill>
                  <a:srgbClr val="1E6FE6"/>
                </a:solidFill>
              </a:rPr>
              <a:t>  [◇ 도형/플로우]  </a:t>
            </a:r>
            <a:r>
              <a:rPr sz="900">
                <a:solidFill>
                  <a:srgbClr val="4B5563"/>
                </a:solidFill>
              </a:rPr>
              <a:t>  📍Ⅶ. 품질 및 보안 관리 / RFP REQ-041~044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S26  </a:t>
            </a:r>
            <a:r>
              <a:rPr sz="1100">
                <a:solidFill>
                  <a:srgbClr val="1F2937"/>
                </a:solidFill>
              </a:rPr>
              <a:t>사업 비용 산정 – 방법론 및 법적 근거  </a:t>
            </a:r>
            <a:r>
              <a:rPr sz="900">
                <a:solidFill>
                  <a:srgbClr val="1E6FE6"/>
                </a:solidFill>
              </a:rPr>
              <a:t>  [◇ 도형/플로우]  </a:t>
            </a:r>
            <a:r>
              <a:rPr sz="900">
                <a:solidFill>
                  <a:srgbClr val="4B5563"/>
                </a:solidFill>
              </a:rPr>
              <a:t>  📍Ⅷ. 사업 비용 1. 산정 방법론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S27  </a:t>
            </a:r>
            <a:r>
              <a:rPr sz="1100">
                <a:solidFill>
                  <a:srgbClr val="1F2937"/>
                </a:solidFill>
              </a:rPr>
              <a:t>사업 비용 산정 – 직무별 표준단가 및 투입 M/M  </a:t>
            </a:r>
            <a:r>
              <a:rPr sz="900">
                <a:solidFill>
                  <a:srgbClr val="1E6FE6"/>
                </a:solidFill>
              </a:rPr>
              <a:t>  [☷ 표]  </a:t>
            </a:r>
            <a:r>
              <a:rPr sz="900">
                <a:solidFill>
                  <a:srgbClr val="4B5563"/>
                </a:solidFill>
              </a:rPr>
              <a:t>  📍Ⅷ. 사업 비용 2. 인력 단가 기준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S28  </a:t>
            </a:r>
            <a:r>
              <a:rPr sz="1100">
                <a:solidFill>
                  <a:srgbClr val="1F2937"/>
                </a:solidFill>
              </a:rPr>
              <a:t>사업 비용 산정 – 비용 구성 및 세부 내역  </a:t>
            </a:r>
            <a:r>
              <a:rPr sz="900">
                <a:solidFill>
                  <a:srgbClr val="1E6FE6"/>
                </a:solidFill>
              </a:rPr>
              <a:t>  [📊 그래프]  </a:t>
            </a:r>
            <a:r>
              <a:rPr sz="900">
                <a:solidFill>
                  <a:srgbClr val="4B5563"/>
                </a:solidFill>
              </a:rPr>
              <a:t>  📍Ⅷ. 사업 비용 3. 비용 구성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S29  </a:t>
            </a:r>
            <a:r>
              <a:rPr sz="1100">
                <a:solidFill>
                  <a:srgbClr val="1F2937"/>
                </a:solidFill>
              </a:rPr>
              <a:t>리스크 관리 – 식별 및 대응 전략  </a:t>
            </a:r>
            <a:r>
              <a:rPr sz="900">
                <a:solidFill>
                  <a:srgbClr val="1E6FE6"/>
                </a:solidFill>
              </a:rPr>
              <a:t>  [☷ 표]  </a:t>
            </a:r>
            <a:r>
              <a:rPr sz="900">
                <a:solidFill>
                  <a:srgbClr val="4B5563"/>
                </a:solidFill>
              </a:rPr>
              <a:t>  📍Ⅲ. 사업 추진 방법론 / Ⅶ. 품질 및 보안 관리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S30  </a:t>
            </a:r>
            <a:r>
              <a:rPr sz="1100">
                <a:solidFill>
                  <a:srgbClr val="1F2937"/>
                </a:solidFill>
              </a:rPr>
              <a:t>산출물 목록 및 인수인계 계획  </a:t>
            </a:r>
            <a:r>
              <a:rPr sz="900">
                <a:solidFill>
                  <a:srgbClr val="1E6FE6"/>
                </a:solidFill>
              </a:rPr>
              <a:t>  [☷ 표]  </a:t>
            </a:r>
            <a:r>
              <a:rPr sz="900">
                <a:solidFill>
                  <a:srgbClr val="4B5563"/>
                </a:solidFill>
              </a:rPr>
              <a:t>  📍Ⅲ. 사업 추진 방법론 1.2. 단계별 산출물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S31  </a:t>
            </a:r>
            <a:r>
              <a:rPr sz="1100">
                <a:solidFill>
                  <a:srgbClr val="1F2937"/>
                </a:solidFill>
              </a:rPr>
              <a:t>하자보수 및 유지보수 계획  </a:t>
            </a:r>
            <a:r>
              <a:rPr sz="900">
                <a:solidFill>
                  <a:srgbClr val="1E6FE6"/>
                </a:solidFill>
              </a:rPr>
              <a:t>  [◇ 도형/플로우]  </a:t>
            </a:r>
            <a:r>
              <a:rPr sz="900">
                <a:solidFill>
                  <a:srgbClr val="4B5563"/>
                </a:solidFill>
              </a:rPr>
              <a:t>  📍RFP Ⅴ. 제안 안내 사항 / 본문 운영 계획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S32  </a:t>
            </a:r>
            <a:r>
              <a:rPr sz="1100">
                <a:solidFill>
                  <a:srgbClr val="1F2937"/>
                </a:solidFill>
              </a:rPr>
              <a:t>사용자 교육 계획  </a:t>
            </a:r>
            <a:r>
              <a:rPr sz="900">
                <a:solidFill>
                  <a:srgbClr val="1E6FE6"/>
                </a:solidFill>
              </a:rPr>
              <a:t>  [☷ 표]  </a:t>
            </a:r>
            <a:r>
              <a:rPr sz="900">
                <a:solidFill>
                  <a:srgbClr val="4B5563"/>
                </a:solidFill>
              </a:rPr>
              <a:t>  📍Ⅲ. 사업 추진 방법론 / RFP 제안요청내용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S33  </a:t>
            </a:r>
            <a:r>
              <a:rPr sz="1100">
                <a:solidFill>
                  <a:srgbClr val="1F2937"/>
                </a:solidFill>
              </a:rPr>
              <a:t>기대 효과 및 사업 성과 지표  </a:t>
            </a:r>
            <a:r>
              <a:rPr sz="900">
                <a:solidFill>
                  <a:srgbClr val="1E6FE6"/>
                </a:solidFill>
              </a:rPr>
              <a:t>  [📈 정량 강조]  </a:t>
            </a:r>
            <a:r>
              <a:rPr sz="900">
                <a:solidFill>
                  <a:srgbClr val="4B5563"/>
                </a:solidFill>
              </a:rPr>
              <a:t>  📍RFP Ⅰ. 사업개요 / 본문 제안 방향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S34  </a:t>
            </a:r>
            <a:r>
              <a:rPr sz="1100">
                <a:solidFill>
                  <a:srgbClr val="1F2937"/>
                </a:solidFill>
              </a:rPr>
              <a:t>지속 가능성 및 확장 계획  </a:t>
            </a:r>
            <a:r>
              <a:rPr sz="900">
                <a:solidFill>
                  <a:srgbClr val="1E6FE6"/>
                </a:solidFill>
              </a:rPr>
              <a:t>  [◇ 도형/플로우]  </a:t>
            </a:r>
            <a:r>
              <a:rPr sz="900">
                <a:solidFill>
                  <a:srgbClr val="4B5563"/>
                </a:solidFill>
              </a:rPr>
              <a:t>  📍본문 아키텍처 설계 원칙 / 사업 범위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58B00"/>
                </a:solidFill>
              </a:rPr>
              <a:t>S35  </a:t>
            </a:r>
            <a:r>
              <a:rPr sz="1100">
                <a:solidFill>
                  <a:srgbClr val="1F2937"/>
                </a:solidFill>
              </a:rPr>
              <a:t>제안 요약 및 차별화 포인트  </a:t>
            </a:r>
            <a:r>
              <a:rPr sz="900">
                <a:solidFill>
                  <a:srgbClr val="1E6FE6"/>
                </a:solidFill>
              </a:rPr>
              <a:t>  [◇ 도형/플로우]  </a:t>
            </a:r>
            <a:r>
              <a:rPr sz="900">
                <a:solidFill>
                  <a:srgbClr val="4B5563"/>
                </a:solidFill>
              </a:rPr>
              <a:t>  📍전체 제안 요약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사업 추진 배경 – 정책 및 환경 변화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Ⅰ. 사업개요 1. 사업 추진 배경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1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국정과제 98번 '여성의 안전과 건강권 보장' 및 딥페이크 성범죄 대응 정책에 따라, 중앙-지역 디성센터 원스톱 지원체계 구축이 시급하다.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◇ 도형/플로우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타임라인: 2019→2024 시스템 구축 이력 + 2024.11 딥페이크 대응 정책 강조 / 그래프: 지역디성 7→17개소 증가 추세 / 카드: 대내환경·지역확대·대외환경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상단: 정책 배경 타임라인 / 중단: 지역디성 확대 현황 그래프 / 하단: 3대 환경 변화 카드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1.1 정책적 배경 표 1-1과 1.1.2 지역디성 확대 현황 그림 1-1을 결합. 국정과제·정책명·확대 개소수·딥페이크 합동정책 키워드만 추출. 수치 변조 금지.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현행 시스템 분석 – 중앙디성 vs 지역디성 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Ⅰ. 사업개요 1.2. 현행 시스템 분석 (As-Is)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2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중앙디성은 310개 사이트 크롤링·영상DNA 검색 등 고도화 완료, 지역디성은 수작업 중심으로 업무 편차 발생. 설치형 시스템 공급이 핵심 해결책이다.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☷ 표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표: 2019~2024 연도별 고도화 내용 + 크롤링 사이트 수 / 박스: '시스템 미보급', '업무 표준 부재', '데이터 격리 불가' 강조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좌측 50%: 중앙디성 구축 이력 테이블 / 우측 50%: 지역디성 문제점 3개 박스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표 1-2 중앙디성 구축 이력 전체 행 표시. 지역디성 문제점은 본문 1.2.2에서 3개 키워드만 추출. 표 형식 유지.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사업 목적 및 범위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Ⅰ. 사업개요 2. 추진목적 / 3. 사업범위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3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지역 디성센터 현장 환경을 고려한 설치형 삭제지원시스템 개발 → 17개 지역 독립 운영 + 중앙 관리 체계 구축.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◇ 도형/플로우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아이콘: 설치형 개발·업무 표준화·독립 운영 / 육각형: 설치형SW·보안·통합관리·채증자동화·AI분석·메신저통계 / 하단: 기능점수 399.4FP 표시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상단: 3대 목적 아이콘 / 중단: 사업 범위 6대 기능 육각형 다이어그램 / 하단: 산출물 요약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2. 추진목적 3개 문단 각 1줄 요약. 3. 사업범위 6개 기능 키워드만 추출. 399.4FP는 RFP에서 그대로 인용.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제안 방향 – 핵심 설계 철학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Ⅱ. 제안내용 1.1. 아키텍처 설계 방향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4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'중앙 주도 표준화와 지역 독립 운영의 양립' – 컨테이너 기반 설치형 아키텍처로 환경 독립성·데이터 분리·3단계 인증 구현.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◇ 도형/플로우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아이콘 카드: 환경독립성·데이터분리·3단계인증·자동업데이트·확장모듈 / 박스: OS 독립성·보안 강화·지자체 확대 대응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상단: 설계 철학 1줄 / 중단: 5대 설계 원칙 아이콘 카드 / 하단: 기대 효과 3개 박스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1.1.1 설계철학 첫 문장 + 1.1.2 5대 원칙 각 제목만 추출. 효과는 원칙별 Why/Effect 1줄씩 요약. 거짓 키워드 금지.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전체 시스템 아키텍처 (서비스 구성도)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Ⅱ. 제안내용 1.2. 서비스 아키텍처 다이어그램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5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중앙디성 관리 레이어 + 17개 지역디성 독립 레이어 + VPN·인증·데이터 분리 구조를 3계층으로 설계.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◇ 도형/플로우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도식: 중앙(통합대시보드·메타DB·배포서버) → VPN·방화벽 → 지역(독립DB·애플리케이션·OTP인증) / 화살표로 데이터 흐름 표시 / 색상: 중앙=파랑, 지역=초록, 보안=빨강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전체: 3계층 아키텍처 도식 (중앙 / 네트워크 / 지역) + 각 계층 주요 컴포넌트 표시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1.2.1 전체 시스템 구성도 텍스트를 3계층 도형으로 변환. 컴포넌트명은 본문 그대로 인용. 계층 간 화살표에 '암호화·인증·분리' 표기.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기능 아키텍처 – 6대 핵심 모듈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Ⅱ. 제안내용 1.2. 기능 모듈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6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상담관리·삭제지원·채증자동화·AI분석·메신저·통계관리 6개 모듈을 마이크로서비스로 독립 배포·확장 가능하게 설계.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◇ 도형/플로우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육각형 중앙에 '지역디성 SW' 배치, 6개 모듈이 방사형으로 연결 / 각 모듈에 FUR-XXX 번호 태그 / 테이블: 모듈명·주요기능·RFP 요구사항 3열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중앙: 6개 모듈 육각형 배치 / 각 모듈에서 RFP 요구사항 번호 연결선 / 하단: 모듈별 주요 기능 요약 테이블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본문에서 6대 모듈(상담·삭제·채증·AI·메신저·통계) 키워드 추출. 각 모듈이 충족하는 RFP 요구사항 번호는 본문 FUR-XXX 인용. 테이블은 모듈당 1행.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데이터 아키텍처 – 중앙·지역 분리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Ⅱ. 제안내용 1.2. 데이터베이스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7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지역디성별 독립 PostgreSQL + 중앙 메타데이터 레이크 구조. 타 지역 데이터 물리 격리, 중앙은 집계 데이터만 조회 가능.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◇ 도형/플로우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지역 DB 박스: 각각 '지자체명·독립 스키마·접근통제' 표기 / 중앙 메타 DB: '통계·대시보드용·상세 데이터 미포함' 표기 / 화살표에 'Read-Only 집계 API' 명시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좌측: 17개 지역 DB 박스 배열 / 우측: 중앙 메타 DB 박스 / 중앙에서 지역으로 '집계 API' 화살표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'원칙 2. 데이터 분리' 단락에서 '지역별 독립 PostgreSQL·중앙 메타데이터 레이크·물리적 격리' 키워드 추출. 도식은 17개 박스 + 1개 중앙 박스 구조.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보안 아키텍처 – 3단계 인증 체계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Ⅱ. 제안내용 1.2. 보안 구조 / Ⅶ. 품질 및 보안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8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VPN 터널 인증 → MAC/IP 화이트리스트 검증 → OTP 기반 로그인 3단계 인증으로 외부 침입 원천 차단.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◇ 도형/플로우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플로우: '1단계 VPN(IPsec/SSL)' → '2단계 MAC·IP 검증' → '3단계 OTP+ID/PW' / 각 단계에 '통과' 또는 '차단' 분기 / 하단: FUR-005~008 표기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좌측→우측 3단계 플로우 / 각 단계마다 검증 항목·거부 조건 표시 / 하단: 관련 RFP 요구사항 번호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'원칙 3. 3단계 인증' 단락과 표 VII-1 기술 통제 항목 결합. 3단계 순서·검증 내용·RFP 번호만 추출. 플로우 화살표로 표현.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기술 스택 및 개발 환경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Ⅱ. 제안내용 1.3. 기술 스택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9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Docker 컨테이너·PostgreSQL·Spring Boot·React·Python AI 엔진 조합으로 OS 독립성·확장성·유지보수성 확보.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◇ 도형/플로우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계층형 박스: 하단 'OS(Win/Linux 혼재)' → 'Docker·Kubernetes' → 'Spring Boot·React·PostgreSQL·Python' / 테이블: 기술명·버전·선정 이유 3열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계층형 스택 다이어그램: OS 레이어 → 컨테이너 레이어 → 백엔드·프론트·DB·AI 레이어 / 우측: 기술 선정 근거 테이블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본문에서 Docker·PostgreSQL·Spring Boot·React·Python 키워드 추출. 각 기술의 선정 이유는 '환경 독립성·표준 준수·유지보수' 등 본문 근거 1줄씩 인용. 버전은 본문 명시 시 표기.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핵심 기능 1 – 피해상담·삭제지원 통합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Ⅱ. 제안내용 / Ⅲ. 제안요청내용 FUR-001~004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10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중앙디성 상담·삭제 프로세스 기반 사례 통합 관리, 배정·이력·삭제요청·진행·결과 관리 일원화.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🖥 예시 화면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플로우: 5단계 화살표 + 각 단계별 담당자 역할 표기 / 목업: 상담 접수 폼·삭제 배정 테이블·진행 현황 대시보드 와이어프레임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상단: 업무 프로세스 플로우 (상담접수→배정→삭제요청→진행→완료) / 하단: 주요 화면 목업 3개 (상담 접수·삭제 배정·진행 현황)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'사업 범위 □ 피해상담·삭제지원 통합 관리 기능' 단락에서 프로세스 5단계 추출. 화면 목업은 '접수·배정·진행' 3개 화면명만 표시. 실제 UI는 디자이너 작업.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핵심 기능 2 – 채증 자동화 및 콘텐츠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Ⅱ. 제안내용 / Ⅲ. 제안요청내용 FUR-010~012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11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URL 기반 자동 채증, 영상 스트리밍 재생, 블러 처리, 해시 관리로 증거 무결성 확보 및 2차 피해 방지.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🖥 예시 화면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플로우: URL 입력 → 자동 크롤링 → 스크린샷/영상 추출 → 해시 생성 → DB 저장 / 목업: 채증 도구 인터페이스 와이어프레임 (URL 입력창·진행 상태·결과 미리보기)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좌측: 채증 프로세스 플로우 / 우측: 채증 화면 목업 (URL 입력→자동 캡처→블러 처리→해시 저장)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'□ 채증 자동화 및 콘텐츠 관리 기능' 단락에서 '자동 채증·스트리밍·블러·해시' 키워드 추출. 플로우는 4단계로 압축. 화면은 채증 도구 1개만 표시.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핵심 기능 3 – AI 기반 분석 (영상DNA·OCR·STT)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Ⅱ. 제안내용 / Ⅲ. 제안요청내용 FUR-013~015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12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영상 DNA로 동일·유사 영상 자동 식별, 신분증 OCR·진위 확인·자동 마스킹으로 업무 효율 극대화.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🖥 예시 화면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카드: 각 AI 기능별 아이콘·설명·정확도 표시 / 목업: 영상 업로드 → DNA 해시 추출 → 유사 영상 목록 표시 화면 와이어프레임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상단: AI 기능 3개 카드 (영상DNA·OCR·STT) / 하단: 영상DNA 검색 결과 화면 목업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'□ AI 기반 분석 기능' 단락에서 '영상DNA·OCR·STT' 3개 키워드 추출. 각 기능 설명은 1줄. 화면은 영상DNA 검색 결과 1개만 목업.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핵심 기능 4 – 업무 메신저 및 통계·관리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Ⅱ. 제안내용 / Ⅲ. 제안요청내용 FUR-016~021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13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중앙-지역 디성센터 실시간 업무 메신저, 통계 대시보드, 사용자·권한·플랫폼 관리 기능 제공.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🖥 예시 화면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메신저: 채팅창·사용자 목록·파일 첨부 UI / 대시보드: 카드형 지표 3개 + 차트 2개 (막대·파이) 와이어프레임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좌측: 메신저 화면 목업 / 우측: 통계 대시보드 목업 (상담 건수·삭제 진행률·플랫폼별 분포)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'□ 업무 메신저 및 통계·관리 기능' 단락에서 '메신저·통계·관리' 키워드 추출. 화면은 메신저와 대시보드 2개만 목업. 차트는 '상담건수·삭제진행률' 표시.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사업 추진 방법론 – 하이브리드 Agile+RUP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Ⅲ. 사업 추진 방법론 1.1. 방법론 선정 배경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14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점진적 반복 개발(Iterative) + Agile 스프린트 + RUP 게이트 검증을 결합한 하이브리드 방법론으로 일정·품질·변경 대응력 확보.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◇ 도형/플로우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박스: 각 방법론별 '선정 이유·적용 영역·기대 효과' 1줄씩 / 플로우: '착수→분석→설계→개발(2주 스프린트×6)→테스트→이행' + 각 단계마다 '게이트 승인' 표시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상단: 방법론 선정 근거 3개 박스 (Why Iterative·Agile·RUP) / 하단: 방법론 적용 플로우 다이어그램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1.1 방법론 선정 배경에서 Why Iterative·Agile·RUP 3개 문단 각 1줄 요약. 플로우는 6단계 + 게이트 표시만. PMI·CMMI 키워드는 하단 각주로.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6대 마일스톤 및 단계별 산출물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Ⅲ. 사업 추진 방법론 1.2. 단계별 추진 절차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15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착수(10일)→분석(23일)→설계(15일)→개발(90일)→테스트(30일)→이행(15일) 총 180일, 각 단계 승인 게이트 설정.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◇ 도형/플로우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타임라인: D+10, D+40, D+90, D+130, D+160, D+180 구간 표시 / 각 구간에 '산출물·검수 형태' 아이콘 / 테이블: 마일스톤·기간·산출물·검수 4열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전체: 6단계 타임라인 + 각 단계별 주요 산출물·검증 방법 표시 / 하단: 테이블로 마일스톤 요약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표 1-1 단계별 추진 절차 요약 전체 행 표시. 타임라인은 종료일(D+X) 기준으로 6개 마일스톤 배치. 테이블은 6행 전부 표시.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사업 추진 일정 – 마스터 스케줄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Ⅳ. 사업 추진 일정 2. 마스터 스케줄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16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180일 일정을 6대 마일스톤으로 분할, 각 마일스톤마다 발주기관 검수 또는 내부 QA 게이트 통과 필수.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📊 그래프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간트 차트: M1~M6 막대, 각 막대 위에 '착수·분석·설계·개발·테스트·이행' 라벨 / 종료일에 '검수' 아이콘 / 우측 박스: 사전점검·지연일수 산정 규칙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전체: 간트 차트 형태 타임라인 / 6개 마일스톤 막대 + 각 막대 내 주요 활동 표시 / 우측: 마일스톤 관리 규칙 박스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표 4-1 마스터 스케줄 6대 마일스톤 전체 행 표시. 간트 차트는 기간(일) 기준으로 막대 길이 조정. 검수 아이콘은 종료일마다 표시.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상세 WBS (Work Breakdown Structure)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Ⅳ. 사업 추진 일정 3. 상세 WBS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17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6대 단계를 총 42개 세부 작업(Task)으로 분할, 각 작업마다 담당자·기간·선후행 관계 정의.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◇ 도형/플로우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트리: 중앙에 '사업 전체' 노드, 하위에 6개 단계, 각 단계 하위에 Task 나열 / 각 Task에 '담당·기간' 표기 / 색상: 단계별 구분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전체: WBS 트리 구조 다이어그램 / Level 1(6단계) → Level 2(42개 Task) 펼쳐진 형태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본문에 WBS 3.0 언급 시 42개 Task 키워드만 추출. 트리는 2 Level만 표시(단계→Task). 담당자·기간은 본문 명시 시만 표기. 실제 WBS 표는 별도 산출물.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투입 인력 및 R&amp;R (역할·책임)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Ⅴ. 투입 인력 및 조직 구성 (사람 작성 예정)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18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(이 슬라이드는 사장님 또는 영업팀이 직접 작성합니다. 본 기획안에서는 조직도 구조와 역할 정의만 제시.)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◇ 도형/플로우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조직도: PM 1명, 파트장 3명(개발·인프라·QA), 팀원 박스 / RACI 매트릭스: 역할(행)×작업(열), R·A·C·I 표기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중앙: 프로젝트 조직도 (PM→파트장→팀원) / 우측: 역할별 책임 매트릭스 (RACI)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Ⅴ장이 '사람 작성 예정'이므로 조직도 틀과 RACI 예시만 표시. 실제 인물명·자격증·경력은 비워둠. '사장님 작성 필요' 워터마크 표기.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투입 인력 – 직무별 등급 및 투입 기간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Ⅴ. 투입 인력 및 조직 구성 (사람 작성 예정)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19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(사장님 작성 필요) PM·분석가·개발자·DB·보안·AI·QA 등 직무별 등급(특급·고급·중급)과 투입 M/M 명시.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☷ 표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테이블: 직무(PM·BA·개발·DB·보안·AI·QA) / 등급(특급·고급·중급) / 투입 기간(착수~이행) / M/M 합계 / 비고(자격증 등) 6열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전체: 투입 인력 테이블 (직무·등급·투입 기간·M/M·비고)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Ⅴ장이 비어있으므로 테이블 헤더만 표시. 데이터 행은 '(사장님 입력 필요)' 표기. 실제 인물명·M/M·자격증은 비워둠.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회사 소개 및 유사 수행 실적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Ⅵ. 회사 소개 및 수행 실적 (사람 작성 예정)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20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(사장님 작성 필요) 크림하우스 주요 연혁, 보유 기술, 유사 프로젝트 실적 3건 이상 제시.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◇ 도형/플로우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타임라인: 회사 설립~현재 주요 이정표 / 카드: 각 프로젝트별 '사업명·고객사·기간·금액·주요 기능' 표기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좌측: 회사 연혁 타임라인 / 우측: 유사 실적 카드 3개 (프로젝트명·발주처·기간·금액)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Ⅵ장이 비어있으므로 타임라인 틀과 실적 카드 3개 빈 템플릿만 표시. '회사 정보 입력 필요' 워터마크 표기.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품질 관리 체계 – 3단계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Ⅶ. 품질 및 보안 관리 1. 품질 관리 체계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21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단위 테스트(Unit) → 통합 테스트(Integration) → 사용자 인수 테스트(UAT) 3단계 검증으로 품질 확보.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◇ 도형/플로우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플로우: Unit(개발자) → Integration(QA팀) → UAT(발주처) 화살표 / 테이블: 단계·테스트 케이스 수·도구(JUnit·Selenium 등)·담당 3열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상단: 3단계 테스트 플로우 / 하단: 각 단계별 테스트 케이스 수·도구·담당자 테이블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Ⅶ장에서 품질 관리 언급 시 '3단계 테스트' 키워드 추출. 테스트 도구는 JUnit·Selenium 등 일반 용어만 표기. 케이스 수는 본문 명시 시만 표기.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보안 관리 체계 – 행정·물리·기술 3계층 통제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Ⅶ. 품질 및 보안 관리 1.1~1.2. 보안 통제 체계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22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행정 통제(정책·교육), 물리 통제(출입·매체), 기술 통제(인증·암호화·로그) 3계층으로 개인정보 보호 및 보안 위협 차단.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☷ 표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도식: 3계층 동심원(외부=행정, 중간=물리, 내부=기술) / 테이블: 통제 계층·통제 항목·구체 내용·책임 주체 4열, 주요 항목만 5~7행 표시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상단: 3계층 보안 통제 도식 / 하단: 표 VIII-1 행정·물리·기술 통제 항목 요약 테이블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표 VIII-1 행정·물리·기술 통제 항목 전체 표에서 각 계층별 대표 항목 2~3개씩 추출. 테이블은 통제 계층·항목·내용·책임 4열 유지. 전체 행 표시 불가 시 '외 ○건' 표기.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보안 관리 – 접근 통제 및 인증 상세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Ⅶ. 품질 및 보안 관리 / RFP FUR-005~008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23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다중 인증(ID/PW+OTP), VPN 접속, MAC·IP 화이트리스트, 역할 기반 권한(RBAC), 세션 관리, 접근 로그 기록으로 무단 접근 차단.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◇ 도형/플로우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플로우: 사용자 → VPN 인증 → MAC/IP 검증 → OTP+ID/PW 로그인 → 세션 생성 → RBAC 권한 확인 → 접근 허용/거부 / 테이블: RFP 요구사항 번호·통제 항목 2열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좌측: 접근 통제 플로우 다이어그램 / 우측: RFP 요구사항 매핑 테이블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표 VIII-1 기술 통제 항목 중 '다중 인증·VPN·MAC·RBAC·세션·로그' 키워드 추출. RFP 번호는 FUR-005~008, REQ-021~035 범위 내 매핑. 플로우는 7단계.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보안 관리 – 데이터 암호화 및 마스킹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Ⅶ. 품질 및 보안 관리 / RFP REQ-057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24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개인정보(주민번호·연락처) DB 저장 시 AES-256 암호화, 조회 시 마스킹 처리, 채증 자료 해시 관리로 무결성 확보.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◇ 도형/플로우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플로우: 개인정보 입력 → AES-256 암호화 → DB 저장 → 조회 시 복호화+마스킹 표시 / 테이블: 데이터 항목(주민번호·연락처·주소 등)·암호화 여부·마스킹 형식 3열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상단: 암호화·마스킹 처리 플로우 / 하단: 암호화 적용 대상 테이블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표 VIII-1 기술 통제 '개인정보 마스킹·암호화' 행 + RFP REQ-057 결합. 플로우는 4단계. 테이블은 개인정보 항목별 암호화·마스킹 여부 표시.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보안 관리 – 로그 및 감사 추적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Ⅶ. 품질 및 보안 관리 / RFP REQ-041~044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25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시스템 접속·조회·수정·삭제 이력 전체 로그 기록, 180일 보관, 검색·다운로드·무결성 검증 기능 제공.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◇ 도형/플로우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다이어그램: 애플리케이션·DB·VPN 각 계층에서 로그 수집 → 중앙 로그 서버 → 180일 보관 → 검색·분석·다운로드 / 테이블: 로그 항목(접속·조회·수정·삭제)·보관 기간·RFP 요구사항 3열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좌측: 로그 수집 및 저장 구조 다이어그램 / 우측: 로그 항목 및 보관 정책 테이블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표 VIII-1 기술 통제 '접근 이력·감사 로그' 행 + RFP REQ-041~044 결합. 다이어그램은 3계층 로그 수집 구조. 테이블은 로그 항목별 보관 정책 표시.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사업 비용 산정 – 방법론 및 법적 근거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Ⅷ. 사업 비용 1. 산정 방법론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26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소프트웨어 진흥법 제50조 및 과업심의 확정(399.4FP) 기반, 기능점수 + 투입공수(M/M) 혼합 방식으로 총 490,000,000원(VAT 포함) 산정.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◇ 도형/플로우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박스: 각 Why·How·Effect 1줄씩 / 플로우: FP 기준가 도출 → 투입 M/M 산정 → 직접인건비 계산 → 제경비·기술료 가산 → 총사업비 산출 → FP 기준가 비교 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상단: 산정 방법론 선택 근거 3개 박스 (Why 혼합형·How 산정·Effect) / 하단: 산정 프로세스 플로우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1. 사업비 산정 방법론 첫 3개 문단(Why·How·Effect) 각 1줄 요약. 플로우는 6단계. 399.4FP·490,000,000원은 RFP 그대로 인용.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사업 비용 산정 – 직무별 표준단가 및 투입 M/M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Ⅷ. 사업 비용 2. 인력 단가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27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SW사업 대가산정 가이드(2024) 준수, 직무·등급별 표준단가 적용, PM·개발·DB·보안·AI·QA 등 총 ○○ M/M 투입.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☷ 표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표1: 직무(PM·BA·개발·DB·보안·AI·QA) / 등급(특급·고급·중급·초급) / 월 표준단가(천원) 3열 / 표2: 직무·투입 M/M·금액 3열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전체: 표 VIII-1 직무별·등급별 월 표준단가 테이블 + 투입 M/M 요약 테이블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표 VIII-1 직무별·등급별 표준단가 전체 행 표시. 투입 M/M은 본문 명시 시만 표기, 미명시 시 '산정 중' 표기. 표준단가는 2024년 기준 유지.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사업 비용 산정 – 비용 구성 및 세부 내역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Ⅷ. 사업 비용 3. 비용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28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직접인건비 + 직접경비(출장·교육·교재) + 제경비(간접비) + 기술료(이윤) = 총 490,000,000원(VAT 포함).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📊 그래프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파이 차트: 직접인건비(70%)·직접경비(5%)·제경비(15%)·기술료(10%) 비율 표시 / 테이블: 항목·금액(원)·비율(%) 3열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좌측: 비용 구성 파이 차트 / 우측: 세부 항목별 금액 테이블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본문에서 직접인건비·직접경비·제경비·기술료 구성 비율 추출. 파이 차트는 4개 항목. 금액은 본문 명시 시만 표기, 총액 490,000,000원은 RFP 인용.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리스크 관리 – 식별 및 대응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Ⅲ. 사업 추진 방법론 / Ⅶ. 품질 및 보안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29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일정·기술·보안·변경 관리 4대 리스크 식별, 각 리스크별 예방·완화·대응 계획 수립.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☷ 표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매트릭스: 가로축(발생 가능성 낮음~높음), 세로축(영향도 낮음~높음), 4개 리스크 위치 표시 / 테이블: 리스크 항목·발생 가능성·영향도·대응 전략 4열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전체: 리스크 매트릭스 (발생 가능성 × 영향도) + 주요 리스크 4개 대응 전략 테이블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본문에서 리스크 관리 언급 시 '일정·기술·보안·변경' 4개 리스크 키워드 추출. 대응 전략은 본문 근거 1줄씩. 발생 가능성·영향도는 '상/중/하' 표기.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산출물 목록 및 인수인계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Ⅲ. 사업 추진 방법론 1.2. 단계별 산출물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30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사업수행계획서·요구사항정의서·설계서·소스코드·테스트결과서·매뉴얼·운영인수인계서 등 총 ○○종 산출물 제출.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☷ 표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트리: 6단계(착수·분석·설계·개발·테스트·이행) 하위에 각 산출물 나열 / 테이블: 산출물명·형식(HWP·PDF·ZIP 등)·제출 시점·RFP 요구사항 4열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좌측: 단계별 산출물 트리 / 우측: 주요 산출물 목록 테이블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표 1-1 단계별 주요 산출물 전체 항목 추출. 트리는 2 Level(단계→산출물). 테이블은 산출물명·형식·제출 시점만 표시, 총 건수는 본문 합산.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하자보수 및 유지보수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RFP Ⅴ. 제안 안내 사항 / 본문 운영 계획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31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하자보수 기간 12개월, 무상 기술지원 및 긴급 장애 대응, 월 1회 정기 점검 실시.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◇ 도형/플로우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타임라인: 인수 후 12개월 구간 표시, 월 1회 점검 표시 / 테이블: 지원 항목(기능 오류·장애·기능 개선 요청)·대응 시간·제공 방법 3열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상단: 하자보수·유지보수 기간 타임라인 / 하단: 지원 범위 및 대응 시간 테이블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본문에서 하자보수 12개월·무상 지원·긴급 대응 키워드 추출. 타임라인은 12개월 구간 + 월 점검 표시. 테이블은 지원 항목별 대응 시간 표시.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사용자 교육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Ⅲ. 사업 추진 방법론 / RFP 제안요청내용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32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시스템 이행 전 중앙디성·17개 지역디성 대상 사용자 교육 실시, 매뉴얼·동영상 교육 자료 제공.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☷ 표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표1: 교육 대상(중앙디성·지역디성)·교육 일정·교육 시간·참석 인원 4열 / 표2: 교육 과정명·내용·시간 3열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상단: 교육 일정 및 대상 테이블 / 하단: 교육 커리큘럼 목록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본문에서 교육 대상 '중앙디성·17개 지역디성' 키워드 추출. 교육 커리큘럼은 '시스템 개요·기능 실습·관리자 기능·Q&amp;A' 등 일반 항목. 일정은 본문 명시 시만 표기.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기대 효과 및 사업 성과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RFP Ⅰ. 사업개요 / 본문 제안 방향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33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지역디성 업무 표준화, 삭제지원 처리 시간 단축, 데이터 보안 강화, 전국 균질 서비스 제공.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📈 정량 강조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카드: 업무 표준화·시간 단축·보안 강화·균질 서비스 각 아이콘+1줄 설명 / 테이블: 지표명(처리 시간·보안 사고·사용자 만족도)·측정 방법·목표치 3열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상단: 4대 기대 효과 아이콘 카드 / 하단: 성과 지표 테이블 (지표명·측정 방법·목표치)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본문에서 '표준화·시간 단축·보안·균질' 키워드 추출. 성과 지표는 '처리 시간 ○% 단축·보안 사고 0건·만족도 ○점' 등 일반 표현. 목표치는 본문 명시 시만 표기.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지속 가능성 및 확장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본문 아키텍처 설계 원칙 / 사업 범위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34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마이크로서비스 아키텍처로 모듈 독립 확장 가능, 향후 50개 지자체 추가 배포 대응, AI 기능 지속 고도화 가능.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◇ 도형/플로우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박스: 각 시나리오별 '현재 상황·확장 계획·기술적 대응' 1줄씩 / 타임라인: 2026→2027→2028 구간, 각 구간에 '지자체 추가·플랫폼 확대·AI 업그레이드' 표시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상단: 확장 시나리오 3개 박스 (지자체 확대·플랫폼 추가·AI 고도화) / 하단: 확장 로드맵 타임라인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'원칙 5. 확장 가능 모듈 구조'와 사업 범위에서 '50개 지자체·310→400개 플랫폼·AI 고도화' 키워드 추출. 타임라인은 3년 구간 표시.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"/>
            <a:ext cx="82296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S35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"/>
            <a:ext cx="77724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제안 요약 및 차별화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38912"/>
            <a:ext cx="96012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E6F0FB"/>
                </a:solidFill>
                <a:latin typeface="맑은 고딕"/>
              </a:rPr>
              <a:t>📍 RFP 매핑: 전체 제안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228600"/>
            <a:ext cx="118872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맑은 고딕"/>
              </a:rPr>
              <a:t>35 /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2015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601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💬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크림하우스는 설치형 아키텍처·3단계 보안·AI 분석·마이크로서비스 확장성으로 중앙-지역 디성센터 원스톱 지원체계 구축을 완성합니다.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914400"/>
            <a:ext cx="5682996" cy="2720340"/>
          </a:xfrm>
          <a:prstGeom prst="rect">
            <a:avLst/>
          </a:prstGeom>
          <a:solidFill>
            <a:srgbClr val="E6F0FB"/>
          </a:solidFill>
          <a:ln>
            <a:solidFill>
              <a:srgbClr val="1E6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0196" y="914400"/>
            <a:ext cx="5682996" cy="347472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9601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◇ 도형/플로우 · 시각요소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3258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아이콘: 설치형SW·3단계보안·AI분석·독립운영·확장성 각 아이콘+키워드 / 하단: '중앙-지역 협업 체계의 새로운 표준을 제시합니다' 강조 텍스트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71900"/>
            <a:ext cx="582015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0B2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771900"/>
            <a:ext cx="5820156" cy="347472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817620"/>
            <a:ext cx="563727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🧭 레이아웃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183380"/>
            <a:ext cx="554583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중앙: 5대 차별화 포인트 아이콘 배치 / 하단: 제안 요약 1줄 메시지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0196" y="3771900"/>
            <a:ext cx="5682996" cy="2720340"/>
          </a:xfrm>
          <a:prstGeom prst="rect">
            <a:avLst/>
          </a:prstGeom>
          <a:solidFill>
            <a:srgbClr val="FFFFFF"/>
          </a:solidFill>
          <a:ln>
            <a:solidFill>
              <a:srgbClr val="F5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0196" y="3771900"/>
            <a:ext cx="5682996" cy="347472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36" y="3817620"/>
            <a:ext cx="5500116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📝 작성 프롬프트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7356" y="4183380"/>
            <a:ext cx="5408676" cy="22174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맑은 고딕"/>
              </a:rPr>
              <a:t>본문 전체에서 '설치형·보안·AI·독립·확장' 5개 차별화 키워드 추출. 하단 메시지는 제안 핵심 1줄로 압축. 아이콘은 각 키워드당 1개씩 배치.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